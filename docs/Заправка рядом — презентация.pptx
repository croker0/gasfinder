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310128"/>
          </a:xfrm>
          <a:prstGeom prst="rect">
            <a:avLst/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310128"/>
            <a:ext cx="12191695" cy="54864"/>
          </a:xfrm>
          <a:prstGeom prst="rect">
            <a:avLst/>
          </a:prstGeom>
          <a:solidFill>
            <a:srgbClr val="EF8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6692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9E6D6"/>
                </a:solidFill>
                <a:latin typeface="Segoe UI"/>
              </a:rPr>
              <a:t>УЧЕБНЫЙ ПРОЕКТ ПО ДИСЦИПЛИНЕ «РАЗРАБОТКА МОБИЛЬНЫХ ПРИЛОЖЕНИЙ»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50976"/>
            <a:ext cx="106070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FFFFFF"/>
                </a:solidFill>
                <a:latin typeface="Segoe UI"/>
              </a:rPr>
              <a:t>Заправка рядом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56816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DCEFE4"/>
                </a:solidFill>
                <a:latin typeface="Segoe UI"/>
              </a:rPr>
              <a:t>Поиск ближайшей АЗС по геолокации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42032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1DC"/>
                </a:solidFill>
                <a:latin typeface="Segoe UI"/>
              </a:rPr>
              <a:t>Тема №5  ·  Android, Kotlin, Jetpack Compose  ·  MVP без серверной части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630168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15531"/>
                </a:solidFill>
                <a:latin typeface="Segoe UI"/>
              </a:rPr>
              <a:t>Команда и роли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023360"/>
            <a:ext cx="2624328" cy="1207008"/>
          </a:xfrm>
          <a:prstGeom prst="roundRect">
            <a:avLst>
              <a:gd name="adj" fmla="val 7000"/>
            </a:avLst>
          </a:prstGeom>
          <a:solidFill>
            <a:srgbClr val="F1F8F4"/>
          </a:solidFill>
          <a:ln w="12700">
            <a:solidFill>
              <a:srgbClr val="E3E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4206240"/>
            <a:ext cx="229514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15531"/>
                </a:solidFill>
                <a:latin typeface="Segoe UI"/>
              </a:rPr>
              <a:t>Проджект-менеджер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15C"/>
                </a:solidFill>
                <a:latin typeface="Segoe UI"/>
              </a:rPr>
              <a:t>скоуп, план, риски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4023360"/>
            <a:ext cx="2624328" cy="1207008"/>
          </a:xfrm>
          <a:prstGeom prst="roundRect">
            <a:avLst>
              <a:gd name="adj" fmla="val 7000"/>
            </a:avLst>
          </a:prstGeom>
          <a:solidFill>
            <a:srgbClr val="F1F8F4"/>
          </a:solidFill>
          <a:ln w="12700">
            <a:solidFill>
              <a:srgbClr val="E3E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30752" y="4206240"/>
            <a:ext cx="229514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15531"/>
                </a:solidFill>
                <a:latin typeface="Segoe UI"/>
              </a:rPr>
              <a:t>Дизайнер UI/UX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15C"/>
                </a:solidFill>
                <a:latin typeface="Segoe UI"/>
              </a:rPr>
              <a:t>экраны, UI-кит, сценарии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79" y="4023360"/>
            <a:ext cx="2624328" cy="1207008"/>
          </a:xfrm>
          <a:prstGeom prst="roundRect">
            <a:avLst>
              <a:gd name="adj" fmla="val 7000"/>
            </a:avLst>
          </a:prstGeom>
          <a:solidFill>
            <a:srgbClr val="F1F8F4"/>
          </a:solidFill>
          <a:ln w="12700">
            <a:solidFill>
              <a:srgbClr val="E3E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1" y="4206240"/>
            <a:ext cx="229514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15531"/>
                </a:solidFill>
                <a:latin typeface="Segoe UI"/>
              </a:rPr>
              <a:t>Android-разработчик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15C"/>
                </a:solidFill>
                <a:latin typeface="Segoe UI"/>
              </a:rPr>
              <a:t>Kotlin, Compose, MVVM, карта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3999" y="4023360"/>
            <a:ext cx="2624328" cy="1207008"/>
          </a:xfrm>
          <a:prstGeom prst="roundRect">
            <a:avLst>
              <a:gd name="adj" fmla="val 7000"/>
            </a:avLst>
          </a:prstGeom>
          <a:solidFill>
            <a:srgbClr val="F1F8F4"/>
          </a:solidFill>
          <a:ln w="12700">
            <a:solidFill>
              <a:srgbClr val="E3E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08591" y="4206240"/>
            <a:ext cx="229514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15531"/>
                </a:solidFill>
                <a:latin typeface="Segoe UI"/>
              </a:rPr>
              <a:t>QA и аналитик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15C"/>
                </a:solidFill>
                <a:latin typeface="Segoe UI"/>
              </a:rPr>
              <a:t>тесты, метрики, приёмка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614416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B615C"/>
                </a:solidFill>
                <a:latin typeface="Segoe UI"/>
              </a:rPr>
              <a:t>ФИО участников и распределение времени — на слайде «Управление проектом».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455664"/>
            <a:ext cx="11183112" cy="18288"/>
          </a:xfrm>
          <a:prstGeom prst="rect">
            <a:avLst/>
          </a:prstGeom>
          <a:solidFill>
            <a:srgbClr val="DDE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6519672"/>
            <a:ext cx="10058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15C"/>
                </a:solidFill>
                <a:latin typeface="Segoe UI"/>
              </a:rPr>
              <a:t>«Заправка рядом» · учебный проект, тема №5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EF8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692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C9E6D6"/>
                </a:solidFill>
                <a:latin typeface="Segoe UI"/>
              </a:rPr>
              <a:t>РАЗДЕЛ 1 · ИДЕЯ И ОБОСНОВАНИЕ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2412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Проблема и целевая аудитория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384048"/>
            <a:ext cx="6217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E6D6"/>
                </a:solidFill>
                <a:latin typeface="Segoe UI"/>
              </a:rPr>
              <a:t>2/22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5486400" cy="4434840"/>
          </a:xfrm>
          <a:prstGeom prst="roundRect">
            <a:avLst>
              <a:gd name="adj" fmla="val 4000"/>
            </a:avLst>
          </a:prstGeom>
          <a:solidFill>
            <a:srgbClr val="F6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27632"/>
            <a:ext cx="4937760" cy="4069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115531"/>
                </a:solidFill>
                <a:latin typeface="Segoe UI"/>
              </a:rPr>
              <a:t>Проблема</a:t>
            </a:r>
          </a:p>
          <a:p>
            <a:pPr algn="l" marL="237744" indent="-237744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450" b="0" i="0">
                <a:solidFill>
                  <a:srgbClr val="1A1C19"/>
                </a:solidFill>
                <a:latin typeface="Segoe UI"/>
              </a:rPr>
              <a:t>—  Топливо заканчивается, а нужной АЗС рядом не видно.</a:t>
            </a:r>
          </a:p>
          <a:p>
            <a:pPr algn="l" marL="237744" indent="-237744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450" b="0" i="0">
                <a:solidFill>
                  <a:srgbClr val="1A1C19"/>
                </a:solidFill>
                <a:latin typeface="Segoe UI"/>
              </a:rPr>
              <a:t>—  В универсальных картах АЗС — это POI: поиск, зум, выбор — 5–7 действий.</a:t>
            </a:r>
          </a:p>
          <a:p>
            <a:pPr algn="l" marL="237744" indent="-237744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450" b="0" i="0">
                <a:solidFill>
                  <a:srgbClr val="1A1C19"/>
                </a:solidFill>
                <a:latin typeface="Segoe UI"/>
              </a:rPr>
              <a:t>—  Нет фильтра по виду топлива и сравнения цен на одном экране.</a:t>
            </a:r>
          </a:p>
          <a:p>
            <a:pPr algn="l" marL="237744" indent="-237744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450" b="0" i="0">
                <a:solidFill>
                  <a:srgbClr val="1A1C19"/>
                </a:solidFill>
                <a:latin typeface="Segoe UI"/>
              </a:rPr>
              <a:t>—  Водитель отвлекается от дороги — цена ошибки высокая.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422392" cy="4434840"/>
          </a:xfrm>
          <a:prstGeom prst="roundRect">
            <a:avLst>
              <a:gd name="adj" fmla="val 4000"/>
            </a:avLst>
          </a:prstGeom>
          <a:solidFill>
            <a:srgbClr val="F1F8F4"/>
          </a:solidFill>
          <a:ln w="12700">
            <a:solidFill>
              <a:srgbClr val="E3E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627632"/>
            <a:ext cx="4873752" cy="4069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115531"/>
                </a:solidFill>
                <a:latin typeface="Segoe UI"/>
              </a:rPr>
              <a:t>Целевая аудитория</a:t>
            </a:r>
          </a:p>
          <a:p>
            <a:pPr algn="l" marL="237744" indent="-237744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450" b="0" i="0">
                <a:solidFill>
                  <a:srgbClr val="1A1C19"/>
                </a:solidFill>
                <a:latin typeface="Segoe UI"/>
              </a:rPr>
              <a:t>—  Водители личных авто, 25–45 лет, ежедневные поездки по городу.</a:t>
            </a:r>
          </a:p>
          <a:p>
            <a:pPr algn="l" marL="237744" indent="-237744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450" b="0" i="0">
                <a:solidFill>
                  <a:srgbClr val="1A1C19"/>
                </a:solidFill>
                <a:latin typeface="Segoe UI"/>
              </a:rPr>
              <a:t>—  Ситуация: маршрут незнакомый, времени мало, топливо на исходе.</a:t>
            </a:r>
          </a:p>
          <a:p>
            <a:pPr algn="l" marL="237744" indent="-237744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450" b="0" i="0">
                <a:solidFill>
                  <a:srgbClr val="1A1C19"/>
                </a:solidFill>
                <a:latin typeface="Segoe UI"/>
              </a:rPr>
              <a:t>—  Опора на отзывы: в Яндекс Картах и 2ГИС жалуются на долгий поиск АЗС и цену.</a:t>
            </a:r>
          </a:p>
          <a:p>
            <a:pPr algn="l" marL="237744" indent="-237744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450" b="0" i="0">
                <a:solidFill>
                  <a:srgbClr val="1A1C19"/>
                </a:solidFill>
                <a:latin typeface="Segoe UI"/>
              </a:rPr>
              <a:t>—  Ядро сценария: «здесь и сейчас», 1–3 действия до ответа.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455664"/>
            <a:ext cx="11183112" cy="18288"/>
          </a:xfrm>
          <a:prstGeom prst="rect">
            <a:avLst/>
          </a:prstGeom>
          <a:solidFill>
            <a:srgbClr val="DDE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519672"/>
            <a:ext cx="10058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15C"/>
                </a:solidFill>
                <a:latin typeface="Segoe UI"/>
              </a:rPr>
              <a:t>«Заправка рядом» · учебный проект, тема №5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EF8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692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C9E6D6"/>
                </a:solidFill>
                <a:latin typeface="Segoe UI"/>
              </a:rPr>
              <a:t>РАЗДЕЛ 1 · ИДЕЯ И ОБОСНОВАНИЕ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2412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Актуальность и гипотеза продукта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384048"/>
            <a:ext cx="6217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E6D6"/>
                </a:solidFill>
                <a:latin typeface="Segoe UI"/>
              </a:rPr>
              <a:t>3/22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44752"/>
            <a:ext cx="5285232" cy="2286000"/>
          </a:xfrm>
          <a:prstGeom prst="roundRect">
            <a:avLst>
              <a:gd name="adj" fmla="val 5000"/>
            </a:avLst>
          </a:prstGeom>
          <a:solidFill>
            <a:srgbClr val="F6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45920"/>
            <a:ext cx="47365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650" b="1" i="0">
                <a:solidFill>
                  <a:srgbClr val="115531"/>
                </a:solidFill>
                <a:latin typeface="Segoe UI"/>
              </a:rPr>
              <a:t>Почему сейчас</a:t>
            </a:r>
          </a:p>
          <a:p>
            <a:pPr algn="l" marL="237744" indent="-237744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A1C19"/>
                </a:solidFill>
                <a:latin typeface="Segoe UI"/>
              </a:rPr>
              <a:t>—  Цены на топливо меняются постоянно</a:t>
            </a:r>
          </a:p>
          <a:p>
            <a:pPr algn="l" marL="237744" indent="-237744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A1C19"/>
                </a:solidFill>
                <a:latin typeface="Segoe UI"/>
              </a:rPr>
              <a:t>—  Телефон всегда под рукой</a:t>
            </a:r>
          </a:p>
          <a:p>
            <a:pPr algn="l" marL="237744" indent="-237744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A1C19"/>
                </a:solidFill>
                <a:latin typeface="Segoe UI"/>
              </a:rPr>
              <a:t>—  Поиск АЗС — моментный сценарий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444752"/>
            <a:ext cx="5285232" cy="2286000"/>
          </a:xfrm>
          <a:prstGeom prst="roundRect">
            <a:avLst>
              <a:gd name="adj" fmla="val 5000"/>
            </a:avLst>
          </a:prstGeom>
          <a:solidFill>
            <a:srgbClr val="F6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645920"/>
            <a:ext cx="47365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650" b="1" i="0">
                <a:solidFill>
                  <a:srgbClr val="115531"/>
                </a:solidFill>
                <a:latin typeface="Segoe UI"/>
              </a:rPr>
              <a:t>Почему приложение</a:t>
            </a:r>
          </a:p>
          <a:p>
            <a:pPr algn="l" marL="237744" indent="-237744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A1C19"/>
                </a:solidFill>
                <a:latin typeface="Segoe UI"/>
              </a:rPr>
              <a:t>—  Геолокация есть только у телефона</a:t>
            </a:r>
          </a:p>
          <a:p>
            <a:pPr algn="l" marL="237744" indent="-237744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A1C19"/>
                </a:solidFill>
                <a:latin typeface="Segoe UI"/>
              </a:rPr>
              <a:t>—  Сайт и бот не знают, где вы</a:t>
            </a:r>
          </a:p>
          <a:p>
            <a:pPr algn="l" marL="237744" indent="-237744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A1C19"/>
                </a:solidFill>
                <a:latin typeface="Segoe UI"/>
              </a:rPr>
              <a:t>—  Карта работает через кэш тайлов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005072"/>
            <a:ext cx="11183112" cy="1874519"/>
          </a:xfrm>
          <a:prstGeom prst="roundRect">
            <a:avLst>
              <a:gd name="adj" fmla="val 5000"/>
            </a:avLst>
          </a:prstGeom>
          <a:solidFill>
            <a:srgbClr val="FFF1DC"/>
          </a:solidFill>
          <a:ln w="12700">
            <a:solidFill>
              <a:srgbClr val="EF8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206240"/>
            <a:ext cx="10424160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8A4B00"/>
                </a:solidFill>
                <a:latin typeface="Segoe UI"/>
              </a:rPr>
              <a:t>Гипотеза продукта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2100" b="1" i="0">
                <a:solidFill>
                  <a:srgbClr val="1A1C19"/>
                </a:solidFill>
                <a:latin typeface="Segoe UI"/>
              </a:rPr>
              <a:t>«Водители хотят видеть ближайшую АЗС с ценой за один тап — без ручного поиска по карте»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15C"/>
                </a:solidFill>
                <a:latin typeface="Segoe UI"/>
              </a:rPr>
              <a:t>Проверяем: укладывается ли главный сценарий в 1–3 действия.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455664"/>
            <a:ext cx="11183112" cy="18288"/>
          </a:xfrm>
          <a:prstGeom prst="rect">
            <a:avLst/>
          </a:prstGeom>
          <a:solidFill>
            <a:srgbClr val="DDE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10058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15C"/>
                </a:solidFill>
                <a:latin typeface="Segoe UI"/>
              </a:rPr>
              <a:t>«Заправка рядом» · учебный проект, тема №5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EF8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692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C9E6D6"/>
                </a:solidFill>
                <a:latin typeface="Segoe UI"/>
              </a:rPr>
              <a:t>РАЗДЕЛ 2 · АНАЛИЗ РЫНКА И КОНКУРЕНТОВ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2412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Конкуренты: 5 приложений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384048"/>
            <a:ext cx="6217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E6D6"/>
                </a:solidFill>
                <a:latin typeface="Segoe UI"/>
              </a:rPr>
              <a:t>4/22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92608" y="1371600"/>
          <a:ext cx="11612880" cy="34015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65960"/>
                <a:gridCol w="3154680"/>
                <a:gridCol w="3566160"/>
                <a:gridCol w="2926080"/>
              </a:tblGrid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Приложение</a:t>
                      </a:r>
                    </a:p>
                  </a:txBody>
                  <a:tcPr marL="91440" marR="73152" marT="36576" marB="36576" anchor="ctr">
                    <a:solidFill>
                      <a:srgbClr val="1B7F4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Что умеет</a:t>
                      </a:r>
                    </a:p>
                  </a:txBody>
                  <a:tcPr marL="91440" marR="73152" marT="36576" marB="36576" anchor="ctr">
                    <a:solidFill>
                      <a:srgbClr val="1B7F4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Что плохо</a:t>
                      </a:r>
                    </a:p>
                  </a:txBody>
                  <a:tcPr marL="91440" marR="73152" marT="36576" marB="36576" anchor="ctr">
                    <a:solidFill>
                      <a:srgbClr val="1B7F4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Наше отличие</a:t>
                      </a:r>
                    </a:p>
                  </a:txBody>
                  <a:tcPr marL="91440" marR="73152" marT="36576" marB="36576" anchor="ctr">
                    <a:solidFill>
                      <a:srgbClr val="1B7F4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A1C19"/>
                          </a:solidFill>
                          <a:latin typeface="Segoe UI"/>
                        </a:rPr>
                        <a:t>Яндекс Карты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C19"/>
                          </a:solidFill>
                          <a:latin typeface="Segoe UI"/>
                        </a:rPr>
                        <a:t>Карты, АЗС как POI, отзывы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C19"/>
                          </a:solidFill>
                          <a:latin typeface="Segoe UI"/>
                        </a:rPr>
                        <a:t>Перегруженный интерфейс, нет фильтра по топливу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C19"/>
                          </a:solidFill>
                          <a:latin typeface="Segoe UI"/>
                        </a:rPr>
                        <a:t>Только АЗС, один экран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A1C19"/>
                          </a:solidFill>
                          <a:latin typeface="Segoe UI"/>
                        </a:rPr>
                        <a:t>2ГИС</a:t>
                      </a:r>
                    </a:p>
                  </a:txBody>
                  <a:tcPr marL="91440" marR="73152" marT="36576" marB="36576" anchor="ctr">
                    <a:solidFill>
                      <a:srgbClr val="F6F7F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C19"/>
                          </a:solidFill>
                          <a:latin typeface="Segoe UI"/>
                        </a:rPr>
                        <a:t>Справочник организаций, часы работы</a:t>
                      </a:r>
                    </a:p>
                  </a:txBody>
                  <a:tcPr marL="91440" marR="73152" marT="36576" marB="36576" anchor="ctr">
                    <a:solidFill>
                      <a:srgbClr val="F6F7F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C19"/>
                          </a:solidFill>
                          <a:latin typeface="Segoe UI"/>
                        </a:rPr>
                        <a:t>Поиск АЗС — не главный сценарий</a:t>
                      </a:r>
                    </a:p>
                  </a:txBody>
                  <a:tcPr marL="91440" marR="73152" marT="36576" marB="36576" anchor="ctr">
                    <a:solidFill>
                      <a:srgbClr val="F6F7F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C19"/>
                          </a:solidFill>
                          <a:latin typeface="Segoe UI"/>
                        </a:rPr>
                        <a:t>Карта и список рядом</a:t>
                      </a:r>
                    </a:p>
                  </a:txBody>
                  <a:tcPr marL="91440" marR="73152" marT="36576" marB="36576" anchor="ctr">
                    <a:solidFill>
                      <a:srgbClr val="F6F7F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A1C19"/>
                          </a:solidFill>
                          <a:latin typeface="Segoe UI"/>
                        </a:rPr>
                        <a:t>Google Maps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C19"/>
                          </a:solidFill>
                          <a:latin typeface="Segoe UI"/>
                        </a:rPr>
                        <a:t>Навигация, АЗС на карте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C19"/>
                          </a:solidFill>
                          <a:latin typeface="Segoe UI"/>
                        </a:rPr>
                        <a:t>Нет цен на топливо в РФ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C19"/>
                          </a:solidFill>
                          <a:latin typeface="Segoe UI"/>
                        </a:rPr>
                        <a:t>Цены по 4 видам топлива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A1C19"/>
                          </a:solidFill>
                          <a:latin typeface="Segoe UI"/>
                        </a:rPr>
                        <a:t>АЗС России</a:t>
                      </a:r>
                    </a:p>
                  </a:txBody>
                  <a:tcPr marL="91440" marR="73152" marT="36576" marB="36576" anchor="ctr">
                    <a:solidFill>
                      <a:srgbClr val="F6F7F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C19"/>
                          </a:solidFill>
                          <a:latin typeface="Segoe UI"/>
                        </a:rPr>
                        <a:t>База АЗС и цены</a:t>
                      </a:r>
                    </a:p>
                  </a:txBody>
                  <a:tcPr marL="91440" marR="73152" marT="36576" marB="36576" anchor="ctr">
                    <a:solidFill>
                      <a:srgbClr val="F6F7F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C19"/>
                          </a:solidFill>
                          <a:latin typeface="Segoe UI"/>
                        </a:rPr>
                        <a:t>Устаревший UX и карта</a:t>
                      </a:r>
                    </a:p>
                  </a:txBody>
                  <a:tcPr marL="91440" marR="73152" marT="36576" marB="36576" anchor="ctr">
                    <a:solidFill>
                      <a:srgbClr val="F6F7F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C19"/>
                          </a:solidFill>
                          <a:latin typeface="Segoe UI"/>
                        </a:rPr>
                        <a:t>Jetpack Compose, актуальный UI</a:t>
                      </a:r>
                    </a:p>
                  </a:txBody>
                  <a:tcPr marL="91440" marR="73152" marT="36576" marB="36576" anchor="ctr">
                    <a:solidFill>
                      <a:srgbClr val="F6F7F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A1C19"/>
                          </a:solidFill>
                          <a:latin typeface="Segoe UI"/>
                        </a:rPr>
                        <a:t>MultiFuel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C19"/>
                          </a:solidFill>
                          <a:latin typeface="Segoe UI"/>
                        </a:rPr>
                        <a:t>Учёт заправок, статистика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C19"/>
                          </a:solidFill>
                          <a:latin typeface="Segoe UI"/>
                        </a:rPr>
                        <a:t>Не ищет АЗС поблизости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C19"/>
                          </a:solidFill>
                          <a:latin typeface="Segoe UI"/>
                        </a:rPr>
                        <a:t>Поиск по геолокации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292608" y="5596128"/>
            <a:ext cx="11612880" cy="658368"/>
          </a:xfrm>
          <a:prstGeom prst="roundRect">
            <a:avLst>
              <a:gd name="adj" fmla="val 8000"/>
            </a:avLst>
          </a:prstGeom>
          <a:solidFill>
            <a:srgbClr val="F1F8F4"/>
          </a:solidFill>
          <a:ln w="12700">
            <a:solidFill>
              <a:srgbClr val="E3E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5705856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15531"/>
                </a:solidFill>
                <a:latin typeface="Segoe UI"/>
              </a:rPr>
              <a:t>Лучше: цена ближайшей АЗС за 1 тап.   Отстаём: нет онлайн-цен в реальном времени и нет навигации внутри приложения.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455664"/>
            <a:ext cx="11183112" cy="18288"/>
          </a:xfrm>
          <a:prstGeom prst="rect">
            <a:avLst/>
          </a:prstGeom>
          <a:solidFill>
            <a:srgbClr val="DDE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19672"/>
            <a:ext cx="10058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15C"/>
                </a:solidFill>
                <a:latin typeface="Segoe UI"/>
              </a:rPr>
              <a:t>«Заправка рядом» · учебный проект, тема №5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EF8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692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C9E6D6"/>
                </a:solidFill>
                <a:latin typeface="Segoe UI"/>
              </a:rPr>
              <a:t>РАЗДЕЛ 2 · АНАЛИЗ РЫНКА И КОНКУРЕНТОВ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2412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Позиционирование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384048"/>
            <a:ext cx="6217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E6D6"/>
                </a:solidFill>
                <a:latin typeface="Segoe UI"/>
              </a:rPr>
              <a:t>5/22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89888"/>
            <a:ext cx="11183112" cy="1024128"/>
          </a:xfrm>
          <a:prstGeom prst="roundRect">
            <a:avLst>
              <a:gd name="adj" fmla="val 8000"/>
            </a:avLst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72768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Segoe UI"/>
              </a:rPr>
              <a:t>Самое быстрое приложение, отвечающее на вопрос «где заправиться рядом»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651760"/>
            <a:ext cx="11183112" cy="768096"/>
          </a:xfrm>
          <a:prstGeom prst="roundRect">
            <a:avLst>
              <a:gd name="adj" fmla="val 9000"/>
            </a:avLst>
          </a:prstGeom>
          <a:solidFill>
            <a:srgbClr val="F6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651760"/>
            <a:ext cx="82296" cy="768096"/>
          </a:xfrm>
          <a:prstGeom prst="rect">
            <a:avLst/>
          </a:prstGeom>
          <a:solidFill>
            <a:srgbClr val="EF8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761488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115531"/>
                </a:solidFill>
                <a:latin typeface="Segoe UI"/>
              </a:rPr>
              <a:t>Яндекс Карты · 2ГИС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1C19"/>
                </a:solidFill>
                <a:latin typeface="Segoe UI"/>
              </a:rPr>
              <a:t>Мы не карта с АЗС, а поиск АЗС: один экран вместо пяти шагов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538728"/>
            <a:ext cx="11183112" cy="768096"/>
          </a:xfrm>
          <a:prstGeom prst="roundRect">
            <a:avLst>
              <a:gd name="adj" fmla="val 9000"/>
            </a:avLst>
          </a:prstGeom>
          <a:solidFill>
            <a:srgbClr val="F6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3538728"/>
            <a:ext cx="82296" cy="768096"/>
          </a:xfrm>
          <a:prstGeom prst="rect">
            <a:avLst/>
          </a:prstGeom>
          <a:solidFill>
            <a:srgbClr val="EF8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648456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115531"/>
                </a:solidFill>
                <a:latin typeface="Segoe UI"/>
              </a:rPr>
              <a:t>Google Maps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1C19"/>
                </a:solidFill>
                <a:latin typeface="Segoe UI"/>
              </a:rPr>
              <a:t>Мы показываем цены по всем видам топлива, а не только точку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425696"/>
            <a:ext cx="11183112" cy="768096"/>
          </a:xfrm>
          <a:prstGeom prst="roundRect">
            <a:avLst>
              <a:gd name="adj" fmla="val 9000"/>
            </a:avLst>
          </a:prstGeom>
          <a:solidFill>
            <a:srgbClr val="F6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4425696"/>
            <a:ext cx="82296" cy="768096"/>
          </a:xfrm>
          <a:prstGeom prst="rect">
            <a:avLst/>
          </a:prstGeom>
          <a:solidFill>
            <a:srgbClr val="EF8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4535424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115531"/>
                </a:solidFill>
                <a:latin typeface="Segoe UI"/>
              </a:rPr>
              <a:t>АЗС России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1C19"/>
                </a:solidFill>
                <a:latin typeface="Segoe UI"/>
              </a:rPr>
              <a:t>Современный интерфейс на Jetpack Compose вместо устаревшего UX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312664"/>
            <a:ext cx="11183112" cy="768096"/>
          </a:xfrm>
          <a:prstGeom prst="roundRect">
            <a:avLst>
              <a:gd name="adj" fmla="val 9000"/>
            </a:avLst>
          </a:prstGeom>
          <a:solidFill>
            <a:srgbClr val="F6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5312664"/>
            <a:ext cx="82296" cy="768096"/>
          </a:xfrm>
          <a:prstGeom prst="rect">
            <a:avLst/>
          </a:prstGeom>
          <a:solidFill>
            <a:srgbClr val="EF8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5422392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115531"/>
                </a:solidFill>
                <a:latin typeface="Segoe UI"/>
              </a:rPr>
              <a:t>MultiFuel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1C19"/>
                </a:solidFill>
                <a:latin typeface="Segoe UI"/>
              </a:rPr>
              <a:t>Мы решаем «где заправиться сейчас», а не «сколько я потратил»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6455664"/>
            <a:ext cx="11183112" cy="18288"/>
          </a:xfrm>
          <a:prstGeom prst="rect">
            <a:avLst/>
          </a:prstGeom>
          <a:solidFill>
            <a:srgbClr val="DDE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6519672"/>
            <a:ext cx="10058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15C"/>
                </a:solidFill>
                <a:latin typeface="Segoe UI"/>
              </a:rPr>
              <a:t>«Заправка рядом» · учебный проект, тема №5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EF8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692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C9E6D6"/>
                </a:solidFill>
                <a:latin typeface="Segoe UI"/>
              </a:rPr>
              <a:t>РАЗДЕЛ 3 · БИЗНЕС-МОДЕЛЬ И МОНЕТИЗАЦИЯ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2412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Монетизация и окупаемость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384048"/>
            <a:ext cx="6217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E6D6"/>
                </a:solidFill>
                <a:latin typeface="Segoe UI"/>
              </a:rPr>
              <a:t>6/22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5486400" cy="4846320"/>
          </a:xfrm>
          <a:prstGeom prst="roundRect">
            <a:avLst>
              <a:gd name="adj" fmla="val 4000"/>
            </a:avLst>
          </a:prstGeom>
          <a:solidFill>
            <a:srgbClr val="F6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72768"/>
            <a:ext cx="49377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115531"/>
                </a:solidFill>
                <a:latin typeface="Segoe UI"/>
              </a:rPr>
              <a:t>Модель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600"/>
              </a:spcAft>
            </a:pPr>
            <a:r>
              <a:rPr sz="1300" b="0" i="0">
                <a:solidFill>
                  <a:srgbClr val="1A1C19"/>
                </a:solidFill>
                <a:latin typeface="Segoe UI"/>
              </a:rPr>
              <a:t>Бесплатно для водителя. Доход — реклама локальных сетей АЗС и платное приоритетное размещение в списке.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115531"/>
                </a:solidFill>
                <a:latin typeface="Segoe UI"/>
              </a:rPr>
              <a:t>Расчёт дохода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500" b="1" i="0">
                <a:solidFill>
                  <a:srgbClr val="EF8A17"/>
                </a:solidFill>
                <a:latin typeface="Segoe UI"/>
              </a:rPr>
              <a:t>аудитория × доля × цена</a:t>
            </a:r>
          </a:p>
          <a:p>
            <a:pPr algn="l" marL="237744" indent="-237744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A1C19"/>
                </a:solidFill>
                <a:latin typeface="Segoe UI"/>
              </a:rPr>
              <a:t>—  MAU 50 000 × доля 40% = 20 000 активных</a:t>
            </a:r>
          </a:p>
          <a:p>
            <a:pPr algn="l" marL="237744" indent="-237744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A1C19"/>
                </a:solidFill>
                <a:latin typeface="Segoe UI"/>
              </a:rPr>
              <a:t>—  ARPU 6 ₽/мес  →  ≈ 120 000 ₽ в месяц</a:t>
            </a:r>
          </a:p>
          <a:p>
            <a:pPr algn="l" marL="237744" indent="-237744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A1C19"/>
                </a:solidFill>
                <a:latin typeface="Segoe UI"/>
              </a:rPr>
              <a:t>—  Год 1: выход на 50 000 установок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371600"/>
            <a:ext cx="5422392" cy="4846320"/>
          </a:xfrm>
          <a:prstGeom prst="roundRect">
            <a:avLst>
              <a:gd name="adj" fmla="val 4000"/>
            </a:avLst>
          </a:prstGeom>
          <a:solidFill>
            <a:srgbClr val="F1F8F4"/>
          </a:solidFill>
          <a:ln w="12700">
            <a:solidFill>
              <a:srgbClr val="E3E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572768"/>
            <a:ext cx="4873752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600" b="1" i="0">
                <a:solidFill>
                  <a:srgbClr val="115531"/>
                </a:solidFill>
                <a:latin typeface="Segoe UI"/>
              </a:rPr>
              <a:t>Бюджет разработки</a:t>
            </a:r>
          </a:p>
          <a:p>
            <a:pPr algn="l" marL="237744" indent="-237744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1A1C19"/>
                </a:solidFill>
                <a:latin typeface="Segoe UI"/>
              </a:rPr>
              <a:t>—  4 роли × 120 ч = 480 ч × 700 ₽/ч  →  336 000 ₽</a:t>
            </a:r>
          </a:p>
          <a:p>
            <a:pPr algn="l" marL="237744" indent="-237744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1A1C19"/>
                </a:solidFill>
                <a:latin typeface="Segoe UI"/>
              </a:rPr>
              <a:t>—  Дизайн, лицензии, инфраструктура  →  30 000 ₽</a:t>
            </a:r>
          </a:p>
          <a:p>
            <a:pPr algn="l" marL="237744" indent="-237744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1A1C19"/>
                </a:solidFill>
                <a:latin typeface="Segoe UI"/>
              </a:rPr>
              <a:t>—  Маркетинг на запуске  →  60 000 ₽</a:t>
            </a:r>
          </a:p>
          <a:p>
            <a:pPr algn="l">
              <a:spcBef>
                <a:spcPts val="0"/>
              </a:spcBef>
              <a:spcAft>
                <a:spcPts val="1700"/>
              </a:spcAft>
            </a:pPr>
            <a:r>
              <a:rPr sz="1500" b="1" i="0">
                <a:solidFill>
                  <a:srgbClr val="1A1C19"/>
                </a:solidFill>
                <a:latin typeface="Segoe UI"/>
              </a:rPr>
              <a:t>Итого ≈ 426 000 ₽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1" i="0">
                <a:solidFill>
                  <a:srgbClr val="115531"/>
                </a:solidFill>
                <a:latin typeface="Segoe UI"/>
              </a:rPr>
              <a:t>Окупаемость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2000" b="1" i="0">
                <a:solidFill>
                  <a:srgbClr val="EF8A17"/>
                </a:solidFill>
                <a:latin typeface="Segoe UI"/>
              </a:rPr>
              <a:t>426 000 / 120 000  ≈  4 месяца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B615C"/>
                </a:solidFill>
                <a:latin typeface="Segoe UI"/>
              </a:rPr>
              <a:t>Допущения: ARPU 6 ₽/мес, доля охвата 40%, MAU 50 000 к концу первого года; расчёт без налогов и стоимости платного трафика.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455664"/>
            <a:ext cx="11183112" cy="18288"/>
          </a:xfrm>
          <a:prstGeom prst="rect">
            <a:avLst/>
          </a:prstGeom>
          <a:solidFill>
            <a:srgbClr val="DDE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519672"/>
            <a:ext cx="10058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15C"/>
                </a:solidFill>
                <a:latin typeface="Segoe UI"/>
              </a:rPr>
              <a:t>«Заправка рядом» · учебный проект, тема №5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EF8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692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C9E6D6"/>
                </a:solidFill>
                <a:latin typeface="Segoe UI"/>
              </a:rPr>
              <a:t>РАЗДЕЛ 4 · ПРОДУКТОВЫЕ ТРЕБОВАНИЯ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2412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MVP: 8 функций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384048"/>
            <a:ext cx="6217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E6D6"/>
                </a:solidFill>
                <a:latin typeface="Segoe UI"/>
              </a:rPr>
              <a:t>7/22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5422392" cy="1033271"/>
          </a:xfrm>
          <a:prstGeom prst="roundRect">
            <a:avLst>
              <a:gd name="adj" fmla="val 9000"/>
            </a:avLst>
          </a:prstGeom>
          <a:solidFill>
            <a:srgbClr val="F6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67512" y="1691640"/>
            <a:ext cx="475488" cy="475488"/>
          </a:xfrm>
          <a:prstGeom prst="ellipse">
            <a:avLst/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792224"/>
            <a:ext cx="47548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9304" y="1554480"/>
            <a:ext cx="448056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A1C19"/>
                </a:solidFill>
                <a:latin typeface="Segoe UI"/>
              </a:rPr>
              <a:t>Онбординг из 3 шагов и запрос геолокации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5422392" cy="1033271"/>
          </a:xfrm>
          <a:prstGeom prst="roundRect">
            <a:avLst>
              <a:gd name="adj" fmla="val 9000"/>
            </a:avLst>
          </a:prstGeom>
          <a:solidFill>
            <a:srgbClr val="F6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28231" y="1691640"/>
            <a:ext cx="475488" cy="475488"/>
          </a:xfrm>
          <a:prstGeom prst="ellipse">
            <a:avLst/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1" y="1792224"/>
            <a:ext cx="47548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50024" y="1554480"/>
            <a:ext cx="448056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A1C19"/>
                </a:solidFill>
                <a:latin typeface="Segoe UI"/>
              </a:rPr>
              <a:t>Карта OpenStreetMap с 26 метками АЗС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596896"/>
            <a:ext cx="5422392" cy="1033271"/>
          </a:xfrm>
          <a:prstGeom prst="roundRect">
            <a:avLst>
              <a:gd name="adj" fmla="val 9000"/>
            </a:avLst>
          </a:prstGeom>
          <a:solidFill>
            <a:srgbClr val="F6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67512" y="2871215"/>
            <a:ext cx="475488" cy="475488"/>
          </a:xfrm>
          <a:prstGeom prst="ellipse">
            <a:avLst/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" y="2971800"/>
            <a:ext cx="47548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9304" y="2734056"/>
            <a:ext cx="448056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A1C19"/>
                </a:solidFill>
                <a:latin typeface="Segoe UI"/>
              </a:rPr>
              <a:t>Ближайшая АЗС и расстояние по геолокации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2596896"/>
            <a:ext cx="5422392" cy="1033271"/>
          </a:xfrm>
          <a:prstGeom prst="roundRect">
            <a:avLst>
              <a:gd name="adj" fmla="val 9000"/>
            </a:avLst>
          </a:prstGeom>
          <a:solidFill>
            <a:srgbClr val="F6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28231" y="2871215"/>
            <a:ext cx="475488" cy="475488"/>
          </a:xfrm>
          <a:prstGeom prst="ellipse">
            <a:avLst/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8231" y="2971800"/>
            <a:ext cx="47548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50024" y="2734056"/>
            <a:ext cx="448056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A1C19"/>
                </a:solidFill>
                <a:latin typeface="Segoe UI"/>
              </a:rPr>
              <a:t>Список АЗС, отсортированный по расстоянию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776472"/>
            <a:ext cx="5422392" cy="1033271"/>
          </a:xfrm>
          <a:prstGeom prst="roundRect">
            <a:avLst>
              <a:gd name="adj" fmla="val 9000"/>
            </a:avLst>
          </a:prstGeom>
          <a:solidFill>
            <a:srgbClr val="F6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67512" y="4050791"/>
            <a:ext cx="475488" cy="475488"/>
          </a:xfrm>
          <a:prstGeom prst="ellipse">
            <a:avLst/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" y="4151376"/>
            <a:ext cx="47548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9304" y="3913632"/>
            <a:ext cx="448056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A1C19"/>
                </a:solidFill>
                <a:latin typeface="Segoe UI"/>
              </a:rPr>
              <a:t>Фильтр по топливу: АИ-92, АИ-95, АИ-98, ДТ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3776472"/>
            <a:ext cx="5422392" cy="1033271"/>
          </a:xfrm>
          <a:prstGeom prst="roundRect">
            <a:avLst>
              <a:gd name="adj" fmla="val 9000"/>
            </a:avLst>
          </a:prstGeom>
          <a:solidFill>
            <a:srgbClr val="F6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28231" y="4050791"/>
            <a:ext cx="475488" cy="475488"/>
          </a:xfrm>
          <a:prstGeom prst="ellipse">
            <a:avLst/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28231" y="4151376"/>
            <a:ext cx="47548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50024" y="3913632"/>
            <a:ext cx="448056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A1C19"/>
                </a:solidFill>
                <a:latin typeface="Segoe UI"/>
              </a:rPr>
              <a:t>Поиск по названию АЗС и адресу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4956048"/>
            <a:ext cx="5422392" cy="1033271"/>
          </a:xfrm>
          <a:prstGeom prst="roundRect">
            <a:avLst>
              <a:gd name="adj" fmla="val 9000"/>
            </a:avLst>
          </a:prstGeom>
          <a:solidFill>
            <a:srgbClr val="F6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67512" y="5230368"/>
            <a:ext cx="475488" cy="475488"/>
          </a:xfrm>
          <a:prstGeom prst="ellipse">
            <a:avLst/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2" y="5330952"/>
            <a:ext cx="47548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89304" y="5093208"/>
            <a:ext cx="448056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A1C19"/>
                </a:solidFill>
                <a:latin typeface="Segoe UI"/>
              </a:rPr>
              <a:t>Карточка АЗС: цены и кнопка «Маршрут»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63640" y="4956048"/>
            <a:ext cx="5422392" cy="1033271"/>
          </a:xfrm>
          <a:prstGeom prst="roundRect">
            <a:avLst>
              <a:gd name="adj" fmla="val 9000"/>
            </a:avLst>
          </a:prstGeom>
          <a:solidFill>
            <a:srgbClr val="F6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428231" y="5230368"/>
            <a:ext cx="475488" cy="475488"/>
          </a:xfrm>
          <a:prstGeom prst="ellipse">
            <a:avLst/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28231" y="5330952"/>
            <a:ext cx="47548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50024" y="5093208"/>
            <a:ext cx="448056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A1C19"/>
                </a:solidFill>
                <a:latin typeface="Segoe UI"/>
              </a:rPr>
              <a:t>Избранное, свои АЗС и настройки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6455664"/>
            <a:ext cx="11183112" cy="18288"/>
          </a:xfrm>
          <a:prstGeom prst="rect">
            <a:avLst/>
          </a:prstGeom>
          <a:solidFill>
            <a:srgbClr val="DDE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6519672"/>
            <a:ext cx="10058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15C"/>
                </a:solidFill>
                <a:latin typeface="Segoe UI"/>
              </a:rPr>
              <a:t>«Заправка рядом» · учебный проект, тема №5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EF8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692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C9E6D6"/>
                </a:solidFill>
                <a:latin typeface="Segoe UI"/>
              </a:rPr>
              <a:t>РАЗДЕЛ 4 · ПРОДУКТОВЫЕ ТРЕБОВАНИЯ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2412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Бэклог: после MVP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384048"/>
            <a:ext cx="6217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E6D6"/>
                </a:solidFill>
                <a:latin typeface="Segoe UI"/>
              </a:rPr>
              <a:t>8/22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5422392" cy="7589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1208" y="1517904"/>
            <a:ext cx="68580" cy="466344"/>
          </a:xfrm>
          <a:prstGeom prst="rect">
            <a:avLst/>
          </a:prstGeom>
          <a:solidFill>
            <a:srgbClr val="EF8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" y="1463040"/>
            <a:ext cx="49377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C19"/>
                </a:solidFill>
                <a:latin typeface="Segoe UI"/>
              </a:rPr>
              <a:t>1.  Онлайн-цены через партнёрский API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371600"/>
            <a:ext cx="5422392" cy="7589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81927" y="1517904"/>
            <a:ext cx="68580" cy="466344"/>
          </a:xfrm>
          <a:prstGeom prst="rect">
            <a:avLst/>
          </a:prstGeom>
          <a:solidFill>
            <a:srgbClr val="EF8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74536" y="1463040"/>
            <a:ext cx="49377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C19"/>
                </a:solidFill>
                <a:latin typeface="Segoe UI"/>
              </a:rPr>
              <a:t>2.  Регистрация и синхронизация избранного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258568"/>
            <a:ext cx="5422392" cy="7589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1208" y="2404872"/>
            <a:ext cx="68580" cy="466344"/>
          </a:xfrm>
          <a:prstGeom prst="rect">
            <a:avLst/>
          </a:prstGeom>
          <a:solidFill>
            <a:srgbClr val="EF8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" y="2350008"/>
            <a:ext cx="49377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C19"/>
                </a:solidFill>
                <a:latin typeface="Segoe UI"/>
              </a:rPr>
              <a:t>3.  Офлайн-карта и кэш тайлов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2258568"/>
            <a:ext cx="5422392" cy="7589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81927" y="2404872"/>
            <a:ext cx="68580" cy="466344"/>
          </a:xfrm>
          <a:prstGeom prst="rect">
            <a:avLst/>
          </a:prstGeom>
          <a:solidFill>
            <a:srgbClr val="EF8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74536" y="2350008"/>
            <a:ext cx="49377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C19"/>
                </a:solidFill>
                <a:latin typeface="Segoe UI"/>
              </a:rPr>
              <a:t>4.  Уведомление о низкой цене рядом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145536"/>
            <a:ext cx="5422392" cy="7589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1208" y="3291840"/>
            <a:ext cx="68580" cy="466344"/>
          </a:xfrm>
          <a:prstGeom prst="rect">
            <a:avLst/>
          </a:prstGeom>
          <a:solidFill>
            <a:srgbClr val="EF8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" y="3236976"/>
            <a:ext cx="49377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C19"/>
                </a:solidFill>
                <a:latin typeface="Segoe UI"/>
              </a:rPr>
              <a:t>5.  История заправок и расход топлива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145536"/>
            <a:ext cx="5422392" cy="7589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81927" y="3291840"/>
            <a:ext cx="68580" cy="466344"/>
          </a:xfrm>
          <a:prstGeom prst="rect">
            <a:avLst/>
          </a:prstGeom>
          <a:solidFill>
            <a:srgbClr val="EF8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74536" y="3236976"/>
            <a:ext cx="49377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C19"/>
                </a:solidFill>
                <a:latin typeface="Segoe UI"/>
              </a:rPr>
              <a:t>6.  Отзывы и фото АЗС от пользователей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032504"/>
            <a:ext cx="5422392" cy="7589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21208" y="4178808"/>
            <a:ext cx="68580" cy="466344"/>
          </a:xfrm>
          <a:prstGeom prst="rect">
            <a:avLst/>
          </a:prstGeom>
          <a:solidFill>
            <a:srgbClr val="EF8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6" y="4123944"/>
            <a:ext cx="49377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C19"/>
                </a:solidFill>
                <a:latin typeface="Segoe UI"/>
              </a:rPr>
              <a:t>7.  Программа лояльности сетей АЗС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4032504"/>
            <a:ext cx="5422392" cy="7589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81927" y="4178808"/>
            <a:ext cx="68580" cy="466344"/>
          </a:xfrm>
          <a:prstGeom prst="rect">
            <a:avLst/>
          </a:prstGeom>
          <a:solidFill>
            <a:srgbClr val="EF8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74536" y="4123944"/>
            <a:ext cx="49377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C19"/>
                </a:solidFill>
                <a:latin typeface="Segoe UI"/>
              </a:rPr>
              <a:t>8.  Виджет «Ближайшая АЗС» на рабочий стол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4919472"/>
            <a:ext cx="5422392" cy="7589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21208" y="5065776"/>
            <a:ext cx="68580" cy="466344"/>
          </a:xfrm>
          <a:prstGeom prst="rect">
            <a:avLst/>
          </a:prstGeom>
          <a:solidFill>
            <a:srgbClr val="EF8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3816" y="5010912"/>
            <a:ext cx="49377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C19"/>
                </a:solidFill>
                <a:latin typeface="Segoe UI"/>
              </a:rPr>
              <a:t>9.  Тёмная тема и локализация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4919472"/>
            <a:ext cx="5422392" cy="7589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81927" y="5065776"/>
            <a:ext cx="68580" cy="466344"/>
          </a:xfrm>
          <a:prstGeom prst="rect">
            <a:avLst/>
          </a:prstGeom>
          <a:solidFill>
            <a:srgbClr val="EF8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74536" y="5010912"/>
            <a:ext cx="49377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C19"/>
                </a:solidFill>
                <a:latin typeface="Segoe UI"/>
              </a:rPr>
              <a:t>10.  Android Auto и CarPlay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5897880"/>
            <a:ext cx="11183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5B615C"/>
                </a:solidFill>
                <a:latin typeface="Segoe UI"/>
              </a:rPr>
              <a:t>Все 10 пунктов вынесены за скоуп MVP осознанно — в первую очередь серверные цены и регистрация.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6455664"/>
            <a:ext cx="11183112" cy="18288"/>
          </a:xfrm>
          <a:prstGeom prst="rect">
            <a:avLst/>
          </a:prstGeom>
          <a:solidFill>
            <a:srgbClr val="DDE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6519672"/>
            <a:ext cx="10058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15C"/>
                </a:solidFill>
                <a:latin typeface="Segoe UI"/>
              </a:rPr>
              <a:t>«Заправка рядом» · учебный проект, тема №5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EF8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692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C9E6D6"/>
                </a:solidFill>
                <a:latin typeface="Segoe UI"/>
              </a:rPr>
              <a:t>РАЗДЕЛ 4 · ПРОДУКТОВЫЕ ТРЕБОВАНИЯ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2412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Сценарии пользователя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384048"/>
            <a:ext cx="6217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E6D6"/>
                </a:solidFill>
                <a:latin typeface="Segoe UI"/>
              </a:rPr>
              <a:t>9/22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417320"/>
            <a:ext cx="3666744" cy="4480560"/>
          </a:xfrm>
          <a:prstGeom prst="roundRect">
            <a:avLst>
              <a:gd name="adj" fmla="val 5000"/>
            </a:avLst>
          </a:prstGeom>
          <a:solidFill>
            <a:srgbClr val="F6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20040" y="1417320"/>
            <a:ext cx="3666744" cy="566928"/>
          </a:xfrm>
          <a:prstGeom prst="roundRect">
            <a:avLst>
              <a:gd name="adj" fmla="val 5000"/>
            </a:avLst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737360"/>
            <a:ext cx="3666744" cy="246888"/>
          </a:xfrm>
          <a:prstGeom prst="rect">
            <a:avLst/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9496" y="1517904"/>
            <a:ext cx="32918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Segoe UI"/>
              </a:rPr>
              <a:t>1. Нашёл ближайшую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2212848"/>
            <a:ext cx="3200400" cy="3520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37744" indent="-237744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0" i="0">
                <a:solidFill>
                  <a:srgbClr val="1A1C19"/>
                </a:solidFill>
                <a:latin typeface="Segoe UI"/>
              </a:rPr>
              <a:t>•  Открыл приложение</a:t>
            </a:r>
          </a:p>
          <a:p>
            <a:pPr algn="l" marL="237744" indent="-237744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0" i="0">
                <a:solidFill>
                  <a:srgbClr val="1A1C19"/>
                </a:solidFill>
                <a:latin typeface="Segoe UI"/>
              </a:rPr>
              <a:t>•  Разрешил геолокацию</a:t>
            </a:r>
          </a:p>
          <a:p>
            <a:pPr algn="l" marL="237744" indent="-237744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0" i="0">
                <a:solidFill>
                  <a:srgbClr val="1A1C19"/>
                </a:solidFill>
                <a:latin typeface="Segoe UI"/>
              </a:rPr>
              <a:t>•  В шапке — ближайшая АЗС и 2,0 км</a:t>
            </a:r>
          </a:p>
          <a:p>
            <a:pPr algn="l" marL="237744" indent="-237744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0" i="0">
                <a:solidFill>
                  <a:srgbClr val="1A1C19"/>
                </a:solidFill>
                <a:latin typeface="Segoe UI"/>
              </a:rPr>
              <a:t>•  Нажал «Маршрут»</a:t>
            </a:r>
          </a:p>
          <a:p>
            <a:pPr algn="l" marL="237744" indent="-237744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0" i="0">
                <a:solidFill>
                  <a:srgbClr val="1A1C19"/>
                </a:solidFill>
                <a:latin typeface="Segoe UI"/>
              </a:rPr>
              <a:t>•  Итого: 3 действия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1103" y="1417320"/>
            <a:ext cx="3666744" cy="4480560"/>
          </a:xfrm>
          <a:prstGeom prst="roundRect">
            <a:avLst>
              <a:gd name="adj" fmla="val 5000"/>
            </a:avLst>
          </a:prstGeom>
          <a:solidFill>
            <a:srgbClr val="F6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61103" y="1417320"/>
            <a:ext cx="3666744" cy="566928"/>
          </a:xfrm>
          <a:prstGeom prst="roundRect">
            <a:avLst>
              <a:gd name="adj" fmla="val 5000"/>
            </a:avLst>
          </a:prstGeom>
          <a:solidFill>
            <a:srgbClr val="EF8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61103" y="1737360"/>
            <a:ext cx="3666744" cy="246888"/>
          </a:xfrm>
          <a:prstGeom prst="rect">
            <a:avLst/>
          </a:prstGeom>
          <a:solidFill>
            <a:srgbClr val="EF8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59" y="1517904"/>
            <a:ext cx="32918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Segoe UI"/>
              </a:rPr>
              <a:t>2. Сравнил цены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2212848"/>
            <a:ext cx="3200400" cy="3520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37744" indent="-237744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0" i="0">
                <a:solidFill>
                  <a:srgbClr val="1A1C19"/>
                </a:solidFill>
                <a:latin typeface="Segoe UI"/>
              </a:rPr>
              <a:t>•  Перешёл во вкладку «Список»</a:t>
            </a:r>
          </a:p>
          <a:p>
            <a:pPr algn="l" marL="237744" indent="-237744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0" i="0">
                <a:solidFill>
                  <a:srgbClr val="1A1C19"/>
                </a:solidFill>
                <a:latin typeface="Segoe UI"/>
              </a:rPr>
              <a:t>•  Выбрал топливо АИ-95</a:t>
            </a:r>
          </a:p>
          <a:p>
            <a:pPr algn="l" marL="237744" indent="-237744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0" i="0">
                <a:solidFill>
                  <a:srgbClr val="1A1C19"/>
                </a:solidFill>
                <a:latin typeface="Segoe UI"/>
              </a:rPr>
              <a:t>•  Список отсортирован по цене</a:t>
            </a:r>
          </a:p>
          <a:p>
            <a:pPr algn="l" marL="237744" indent="-237744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0" i="0">
                <a:solidFill>
                  <a:srgbClr val="1A1C19"/>
                </a:solidFill>
                <a:latin typeface="Segoe UI"/>
              </a:rPr>
              <a:t>•  Открыл карточку АЗС</a:t>
            </a:r>
          </a:p>
          <a:p>
            <a:pPr algn="l" marL="237744" indent="-237744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0" i="0">
                <a:solidFill>
                  <a:srgbClr val="1A1C19"/>
                </a:solidFill>
                <a:latin typeface="Segoe UI"/>
              </a:rPr>
              <a:t>•  Выбрал дешевле и построил маршрут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02167" y="1417320"/>
            <a:ext cx="3666744" cy="4480560"/>
          </a:xfrm>
          <a:prstGeom prst="roundRect">
            <a:avLst>
              <a:gd name="adj" fmla="val 5000"/>
            </a:avLst>
          </a:prstGeom>
          <a:solidFill>
            <a:srgbClr val="F6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02167" y="1417320"/>
            <a:ext cx="3666744" cy="566928"/>
          </a:xfrm>
          <a:prstGeom prst="roundRect">
            <a:avLst>
              <a:gd name="adj" fmla="val 5000"/>
            </a:avLst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02167" y="1737360"/>
            <a:ext cx="3666744" cy="246888"/>
          </a:xfrm>
          <a:prstGeom prst="rect">
            <a:avLst/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21624" y="1517904"/>
            <a:ext cx="32918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Segoe UI"/>
              </a:rPr>
              <a:t>3. Добавил свою АЗС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199" y="2212848"/>
            <a:ext cx="3200400" cy="3520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37744" indent="-237744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0" i="0">
                <a:solidFill>
                  <a:srgbClr val="1A1C19"/>
                </a:solidFill>
                <a:latin typeface="Segoe UI"/>
              </a:rPr>
              <a:t>•  Открыл «Профиль»</a:t>
            </a:r>
          </a:p>
          <a:p>
            <a:pPr algn="l" marL="237744" indent="-237744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0" i="0">
                <a:solidFill>
                  <a:srgbClr val="1A1C19"/>
                </a:solidFill>
                <a:latin typeface="Segoe UI"/>
              </a:rPr>
              <a:t>•  Нажал «Добавить АЗС»</a:t>
            </a:r>
          </a:p>
          <a:p>
            <a:pPr algn="l" marL="237744" indent="-237744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0" i="0">
                <a:solidFill>
                  <a:srgbClr val="1A1C19"/>
                </a:solidFill>
                <a:latin typeface="Segoe UI"/>
              </a:rPr>
              <a:t>•  Ввёл название, адрес, цены</a:t>
            </a:r>
          </a:p>
          <a:p>
            <a:pPr algn="l" marL="237744" indent="-237744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0" i="0">
                <a:solidFill>
                  <a:srgbClr val="1A1C19"/>
                </a:solidFill>
                <a:latin typeface="Segoe UI"/>
              </a:rPr>
              <a:t>•  Точка появилась в списке</a:t>
            </a:r>
          </a:p>
          <a:p>
            <a:pPr algn="l" marL="237744" indent="-237744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0" i="0">
                <a:solidFill>
                  <a:srgbClr val="1A1C19"/>
                </a:solidFill>
                <a:latin typeface="Segoe UI"/>
              </a:rPr>
              <a:t>•  Данные хранятся на устройстве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455664"/>
            <a:ext cx="11183112" cy="18288"/>
          </a:xfrm>
          <a:prstGeom prst="rect">
            <a:avLst/>
          </a:prstGeom>
          <a:solidFill>
            <a:srgbClr val="DDE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19672"/>
            <a:ext cx="10058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15C"/>
                </a:solidFill>
                <a:latin typeface="Segoe UI"/>
              </a:rPr>
              <a:t>«Заправка рядом» · учебный проект, тема №5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EF8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692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C9E6D6"/>
                </a:solidFill>
                <a:latin typeface="Segoe UI"/>
              </a:rPr>
              <a:t>РАЗДЕЛ 8 · ДЕМО И ВЫВОДЫ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2412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Экран 1: онбординг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384048"/>
            <a:ext cx="6217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E6D6"/>
                </a:solidFill>
                <a:latin typeface="Segoe UI"/>
              </a:rPr>
              <a:t>10/22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15531"/>
                </a:solidFill>
                <a:latin typeface="Segoe UI"/>
              </a:rPr>
              <a:t>Что показано на экране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83664"/>
            <a:ext cx="7315200" cy="3950208"/>
          </a:xfrm>
          <a:prstGeom prst="roundRect">
            <a:avLst>
              <a:gd name="adj" fmla="val 4500"/>
            </a:avLst>
          </a:prstGeom>
          <a:solidFill>
            <a:srgbClr val="F6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57984"/>
            <a:ext cx="6720840" cy="342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37744" indent="-237744">
              <a:lnSpc>
                <a:spcPct val="105000"/>
              </a:lnSpc>
              <a:spcBef>
                <a:spcPts val="0"/>
              </a:spcBef>
              <a:spcAft>
                <a:spcPts val="1600"/>
              </a:spcAft>
            </a:pPr>
            <a:r>
              <a:rPr sz="1500" b="0" i="0">
                <a:solidFill>
                  <a:srgbClr val="1A1C19"/>
                </a:solidFill>
                <a:latin typeface="Segoe UI"/>
              </a:rPr>
              <a:t>•  Объясняет ценность за три шага</a:t>
            </a:r>
          </a:p>
          <a:p>
            <a:pPr algn="l" marL="237744" indent="-237744">
              <a:lnSpc>
                <a:spcPct val="105000"/>
              </a:lnSpc>
              <a:spcBef>
                <a:spcPts val="0"/>
              </a:spcBef>
              <a:spcAft>
                <a:spcPts val="1600"/>
              </a:spcAft>
            </a:pPr>
            <a:r>
              <a:rPr sz="1500" b="0" i="0">
                <a:solidFill>
                  <a:srgbClr val="1A1C19"/>
                </a:solidFill>
                <a:latin typeface="Segoe UI"/>
              </a:rPr>
              <a:t>•  Запрос геолокации прямо здесь</a:t>
            </a:r>
          </a:p>
          <a:p>
            <a:pPr algn="l" marL="237744" indent="-237744">
              <a:lnSpc>
                <a:spcPct val="105000"/>
              </a:lnSpc>
              <a:spcBef>
                <a:spcPts val="0"/>
              </a:spcBef>
              <a:spcAft>
                <a:spcPts val="1600"/>
              </a:spcAft>
            </a:pPr>
            <a:r>
              <a:rPr sz="1500" b="0" i="0">
                <a:solidFill>
                  <a:srgbClr val="1A1C19"/>
                </a:solidFill>
                <a:latin typeface="Segoe UI"/>
              </a:rPr>
              <a:t>•  Кнопка «Пропустить» — можно отказаться</a:t>
            </a:r>
          </a:p>
          <a:p>
            <a:pPr algn="l" marL="237744" indent="-237744">
              <a:lnSpc>
                <a:spcPct val="105000"/>
              </a:lnSpc>
              <a:spcBef>
                <a:spcPts val="0"/>
              </a:spcBef>
              <a:spcAft>
                <a:spcPts val="1600"/>
              </a:spcAft>
            </a:pPr>
            <a:r>
              <a:rPr sz="1500" b="0" i="0">
                <a:solidFill>
                  <a:srgbClr val="1A1C19"/>
                </a:solidFill>
                <a:latin typeface="Segoe UI"/>
              </a:rPr>
              <a:t>•  Три точки показывают текущий шаг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6421" y="1252728"/>
            <a:ext cx="2326796" cy="4764024"/>
          </a:xfrm>
          <a:prstGeom prst="roundRect">
            <a:avLst>
              <a:gd name="adj" fmla="val 4500"/>
            </a:avLst>
          </a:prstGeom>
          <a:solidFill>
            <a:srgbClr val="F1F8F4"/>
          </a:solidFill>
          <a:ln w="12700">
            <a:solidFill>
              <a:srgbClr val="E3E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1" name="Picture 10" descr="01_onboar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5293" y="1371600"/>
            <a:ext cx="2089052" cy="45262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75320" y="6108192"/>
            <a:ext cx="3429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15C"/>
                </a:solidFill>
                <a:latin typeface="Segoe UI"/>
              </a:rPr>
              <a:t>Онбординг: шаг 1 из 3 — индикатор из трёх точек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455664"/>
            <a:ext cx="11183112" cy="18288"/>
          </a:xfrm>
          <a:prstGeom prst="rect">
            <a:avLst/>
          </a:prstGeom>
          <a:solidFill>
            <a:srgbClr val="DDE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10058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15C"/>
                </a:solidFill>
                <a:latin typeface="Segoe UI"/>
              </a:rPr>
              <a:t>«Заправка рядом» · учебный проект, тема №5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EF8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692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C9E6D6"/>
                </a:solidFill>
                <a:latin typeface="Segoe UI"/>
              </a:rPr>
              <a:t>РАЗДЕЛ 8 · ДЕМО И ВЫВОДЫ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2412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Экран 2: карта и ближайшая АЗС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384048"/>
            <a:ext cx="6217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E6D6"/>
                </a:solidFill>
                <a:latin typeface="Segoe UI"/>
              </a:rPr>
              <a:t>11/22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15531"/>
                </a:solidFill>
                <a:latin typeface="Segoe UI"/>
              </a:rPr>
              <a:t>Что показано на экране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83664"/>
            <a:ext cx="7315200" cy="3950208"/>
          </a:xfrm>
          <a:prstGeom prst="roundRect">
            <a:avLst>
              <a:gd name="adj" fmla="val 4500"/>
            </a:avLst>
          </a:prstGeom>
          <a:solidFill>
            <a:srgbClr val="F6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57984"/>
            <a:ext cx="6720840" cy="342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37744" indent="-237744">
              <a:lnSpc>
                <a:spcPct val="105000"/>
              </a:lnSpc>
              <a:spcBef>
                <a:spcPts val="0"/>
              </a:spcBef>
              <a:spcAft>
                <a:spcPts val="1600"/>
              </a:spcAft>
            </a:pPr>
            <a:r>
              <a:rPr sz="1500" b="0" i="0">
                <a:solidFill>
                  <a:srgbClr val="1A1C19"/>
                </a:solidFill>
                <a:latin typeface="Segoe UI"/>
              </a:rPr>
              <a:t>•  Шапка: АЗС №14 «Газпромнефть», 2,0 км</a:t>
            </a:r>
          </a:p>
          <a:p>
            <a:pPr algn="l" marL="237744" indent="-237744">
              <a:lnSpc>
                <a:spcPct val="105000"/>
              </a:lnSpc>
              <a:spcBef>
                <a:spcPts val="0"/>
              </a:spcBef>
              <a:spcAft>
                <a:spcPts val="1600"/>
              </a:spcAft>
            </a:pPr>
            <a:r>
              <a:rPr sz="1500" b="0" i="0">
                <a:solidFill>
                  <a:srgbClr val="1A1C19"/>
                </a:solidFill>
                <a:latin typeface="Segoe UI"/>
              </a:rPr>
              <a:t>•  Метки 26 АЗС, 7 брендов</a:t>
            </a:r>
          </a:p>
          <a:p>
            <a:pPr algn="l" marL="237744" indent="-237744">
              <a:lnSpc>
                <a:spcPct val="105000"/>
              </a:lnSpc>
              <a:spcBef>
                <a:spcPts val="0"/>
              </a:spcBef>
              <a:spcAft>
                <a:spcPts val="1600"/>
              </a:spcAft>
            </a:pPr>
            <a:r>
              <a:rPr sz="1500" b="0" i="0">
                <a:solidFill>
                  <a:srgbClr val="1A1C19"/>
                </a:solidFill>
                <a:latin typeface="Segoe UI"/>
              </a:rPr>
              <a:t>•  Кнопка «Я здесь» центрирует карту</a:t>
            </a:r>
          </a:p>
          <a:p>
            <a:pPr algn="l" marL="237744" indent="-237744">
              <a:lnSpc>
                <a:spcPct val="105000"/>
              </a:lnSpc>
              <a:spcBef>
                <a:spcPts val="0"/>
              </a:spcBef>
              <a:spcAft>
                <a:spcPts val="1600"/>
              </a:spcAft>
            </a:pPr>
            <a:r>
              <a:rPr sz="1500" b="0" i="0">
                <a:solidFill>
                  <a:srgbClr val="1A1C19"/>
                </a:solidFill>
                <a:latin typeface="Segoe UI"/>
              </a:rPr>
              <a:t>•  Тайлы OpenStreetMap через osmdroid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6421" y="1252728"/>
            <a:ext cx="2326796" cy="4764024"/>
          </a:xfrm>
          <a:prstGeom prst="roundRect">
            <a:avLst>
              <a:gd name="adj" fmla="val 4500"/>
            </a:avLst>
          </a:prstGeom>
          <a:solidFill>
            <a:srgbClr val="F1F8F4"/>
          </a:solidFill>
          <a:ln w="12700">
            <a:solidFill>
              <a:srgbClr val="E3E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1" name="Picture 10" descr="02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5293" y="1371600"/>
            <a:ext cx="2089052" cy="45262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75320" y="6108192"/>
            <a:ext cx="3429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15C"/>
                </a:solidFill>
                <a:latin typeface="Segoe UI"/>
              </a:rPr>
              <a:t>Карта: метки АЗС и шапка «Ближайшая заправка»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455664"/>
            <a:ext cx="11183112" cy="18288"/>
          </a:xfrm>
          <a:prstGeom prst="rect">
            <a:avLst/>
          </a:prstGeom>
          <a:solidFill>
            <a:srgbClr val="DDE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10058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15C"/>
                </a:solidFill>
                <a:latin typeface="Segoe UI"/>
              </a:rPr>
              <a:t>«Заправка рядом» · учебный проект, тема №5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EF8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692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C9E6D6"/>
                </a:solidFill>
                <a:latin typeface="Segoe UI"/>
              </a:rPr>
              <a:t>РАЗДЕЛ 8 · ДЕМО И ВЫВОДЫ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2412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Экран 3: список АЗС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384048"/>
            <a:ext cx="6217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E6D6"/>
                </a:solidFill>
                <a:latin typeface="Segoe UI"/>
              </a:rPr>
              <a:t>12/22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15531"/>
                </a:solidFill>
                <a:latin typeface="Segoe UI"/>
              </a:rPr>
              <a:t>Что показано на экране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83664"/>
            <a:ext cx="7315200" cy="3950208"/>
          </a:xfrm>
          <a:prstGeom prst="roundRect">
            <a:avLst>
              <a:gd name="adj" fmla="val 4500"/>
            </a:avLst>
          </a:prstGeom>
          <a:solidFill>
            <a:srgbClr val="F6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57984"/>
            <a:ext cx="6720840" cy="342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37744" indent="-237744">
              <a:lnSpc>
                <a:spcPct val="105000"/>
              </a:lnSpc>
              <a:spcBef>
                <a:spcPts val="0"/>
              </a:spcBef>
              <a:spcAft>
                <a:spcPts val="1600"/>
              </a:spcAft>
            </a:pPr>
            <a:r>
              <a:rPr sz="1500" b="0" i="0">
                <a:solidFill>
                  <a:srgbClr val="1A1C19"/>
                </a:solidFill>
                <a:latin typeface="Segoe UI"/>
              </a:rPr>
              <a:t>•  Поиск по названию и адресу</a:t>
            </a:r>
          </a:p>
          <a:p>
            <a:pPr algn="l" marL="237744" indent="-237744">
              <a:lnSpc>
                <a:spcPct val="105000"/>
              </a:lnSpc>
              <a:spcBef>
                <a:spcPts val="0"/>
              </a:spcBef>
              <a:spcAft>
                <a:spcPts val="1600"/>
              </a:spcAft>
            </a:pPr>
            <a:r>
              <a:rPr sz="1500" b="0" i="0">
                <a:solidFill>
                  <a:srgbClr val="1A1C19"/>
                </a:solidFill>
                <a:latin typeface="Segoe UI"/>
              </a:rPr>
              <a:t>•  Фильтр топлива: АИ-92, АИ-95, АИ-98, ДТ</a:t>
            </a:r>
          </a:p>
          <a:p>
            <a:pPr algn="l" marL="237744" indent="-237744">
              <a:lnSpc>
                <a:spcPct val="105000"/>
              </a:lnSpc>
              <a:spcBef>
                <a:spcPts val="0"/>
              </a:spcBef>
              <a:spcAft>
                <a:spcPts val="1600"/>
              </a:spcAft>
            </a:pPr>
            <a:r>
              <a:rPr sz="1500" b="0" i="0">
                <a:solidFill>
                  <a:srgbClr val="1A1C19"/>
                </a:solidFill>
                <a:latin typeface="Segoe UI"/>
              </a:rPr>
              <a:t>•  Найдено АЗС: 26</a:t>
            </a:r>
          </a:p>
          <a:p>
            <a:pPr algn="l" marL="237744" indent="-237744">
              <a:lnSpc>
                <a:spcPct val="105000"/>
              </a:lnSpc>
              <a:spcBef>
                <a:spcPts val="0"/>
              </a:spcBef>
              <a:spcAft>
                <a:spcPts val="1600"/>
              </a:spcAft>
            </a:pPr>
            <a:r>
              <a:rPr sz="1500" b="0" i="0">
                <a:solidFill>
                  <a:srgbClr val="1A1C19"/>
                </a:solidFill>
                <a:latin typeface="Segoe UI"/>
              </a:rPr>
              <a:t>•  Цветная полоса карточки — бренд сети</a:t>
            </a:r>
          </a:p>
          <a:p>
            <a:pPr algn="l" marL="237744" indent="-237744">
              <a:lnSpc>
                <a:spcPct val="105000"/>
              </a:lnSpc>
              <a:spcBef>
                <a:spcPts val="0"/>
              </a:spcBef>
              <a:spcAft>
                <a:spcPts val="1600"/>
              </a:spcAft>
            </a:pPr>
            <a:r>
              <a:rPr sz="1500" b="0" i="0">
                <a:solidFill>
                  <a:srgbClr val="1A1C19"/>
                </a:solidFill>
                <a:latin typeface="Segoe UI"/>
              </a:rPr>
              <a:t>•  Цена и расстояние в каждой строке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6421" y="1252728"/>
            <a:ext cx="2326796" cy="4764024"/>
          </a:xfrm>
          <a:prstGeom prst="roundRect">
            <a:avLst>
              <a:gd name="adj" fmla="val 4500"/>
            </a:avLst>
          </a:prstGeom>
          <a:solidFill>
            <a:srgbClr val="F1F8F4"/>
          </a:solidFill>
          <a:ln w="12700">
            <a:solidFill>
              <a:srgbClr val="E3E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1" name="Picture 10" descr="03_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5293" y="1371600"/>
            <a:ext cx="2089052" cy="45262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75320" y="6108192"/>
            <a:ext cx="3429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15C"/>
                </a:solidFill>
                <a:latin typeface="Segoe UI"/>
              </a:rPr>
              <a:t>Список: расстояния, цены и фильтр топлива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455664"/>
            <a:ext cx="11183112" cy="18288"/>
          </a:xfrm>
          <a:prstGeom prst="rect">
            <a:avLst/>
          </a:prstGeom>
          <a:solidFill>
            <a:srgbClr val="DDE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10058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15C"/>
                </a:solidFill>
                <a:latin typeface="Segoe UI"/>
              </a:rPr>
              <a:t>«Заправка рядом» · учебный проект, тема №5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EF8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692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C9E6D6"/>
                </a:solidFill>
                <a:latin typeface="Segoe UI"/>
              </a:rPr>
              <a:t>РАЗДЕЛ 8 · ДЕМО И ВЫВОДЫ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2412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Экран 4: карточка АЗС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384048"/>
            <a:ext cx="6217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E6D6"/>
                </a:solidFill>
                <a:latin typeface="Segoe UI"/>
              </a:rPr>
              <a:t>13/22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15531"/>
                </a:solidFill>
                <a:latin typeface="Segoe UI"/>
              </a:rPr>
              <a:t>Что показано на экране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83664"/>
            <a:ext cx="7315200" cy="3950208"/>
          </a:xfrm>
          <a:prstGeom prst="roundRect">
            <a:avLst>
              <a:gd name="adj" fmla="val 4500"/>
            </a:avLst>
          </a:prstGeom>
          <a:solidFill>
            <a:srgbClr val="F6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57984"/>
            <a:ext cx="6720840" cy="342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37744" indent="-237744">
              <a:lnSpc>
                <a:spcPct val="105000"/>
              </a:lnSpc>
              <a:spcBef>
                <a:spcPts val="0"/>
              </a:spcBef>
              <a:spcAft>
                <a:spcPts val="1600"/>
              </a:spcAft>
            </a:pPr>
            <a:r>
              <a:rPr sz="1500" b="0" i="0">
                <a:solidFill>
                  <a:srgbClr val="1A1C19"/>
                </a:solidFill>
                <a:latin typeface="Segoe UI"/>
              </a:rPr>
              <a:t>•  Цены по четырём видам топлива</a:t>
            </a:r>
          </a:p>
          <a:p>
            <a:pPr algn="l" marL="237744" indent="-237744">
              <a:lnSpc>
                <a:spcPct val="105000"/>
              </a:lnSpc>
              <a:spcBef>
                <a:spcPts val="0"/>
              </a:spcBef>
              <a:spcAft>
                <a:spcPts val="1600"/>
              </a:spcAft>
            </a:pPr>
            <a:r>
              <a:rPr sz="1500" b="0" i="0">
                <a:solidFill>
                  <a:srgbClr val="1A1C19"/>
                </a:solidFill>
                <a:latin typeface="Segoe UI"/>
              </a:rPr>
              <a:t>•  АИ-92 57,41 ₽ · АИ-95 60,25 ₽</a:t>
            </a:r>
          </a:p>
          <a:p>
            <a:pPr algn="l" marL="237744" indent="-237744">
              <a:lnSpc>
                <a:spcPct val="105000"/>
              </a:lnSpc>
              <a:spcBef>
                <a:spcPts val="0"/>
              </a:spcBef>
              <a:spcAft>
                <a:spcPts val="1600"/>
              </a:spcAft>
            </a:pPr>
            <a:r>
              <a:rPr sz="1500" b="0" i="0">
                <a:solidFill>
                  <a:srgbClr val="1A1C19"/>
                </a:solidFill>
                <a:latin typeface="Segoe UI"/>
              </a:rPr>
              <a:t>•  АИ-98 74,77 ₽ · ДТ 66,83 ₽</a:t>
            </a:r>
          </a:p>
          <a:p>
            <a:pPr algn="l" marL="237744" indent="-237744">
              <a:lnSpc>
                <a:spcPct val="105000"/>
              </a:lnSpc>
              <a:spcBef>
                <a:spcPts val="0"/>
              </a:spcBef>
              <a:spcAft>
                <a:spcPts val="1600"/>
              </a:spcAft>
            </a:pPr>
            <a:r>
              <a:rPr sz="1500" b="0" i="0">
                <a:solidFill>
                  <a:srgbClr val="1A1C19"/>
                </a:solidFill>
                <a:latin typeface="Segoe UI"/>
              </a:rPr>
              <a:t>•  Кнопки «Маршрут» и «В избранное»</a:t>
            </a:r>
          </a:p>
          <a:p>
            <a:pPr algn="l" marL="237744" indent="-237744">
              <a:lnSpc>
                <a:spcPct val="105000"/>
              </a:lnSpc>
              <a:spcBef>
                <a:spcPts val="0"/>
              </a:spcBef>
              <a:spcAft>
                <a:spcPts val="1600"/>
              </a:spcAft>
            </a:pPr>
            <a:r>
              <a:rPr sz="1500" b="0" i="0">
                <a:solidFill>
                  <a:srgbClr val="1A1C19"/>
                </a:solidFill>
                <a:latin typeface="Segoe UI"/>
              </a:rPr>
              <a:t>•  Показаны координаты точки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6421" y="1252728"/>
            <a:ext cx="2326796" cy="4764024"/>
          </a:xfrm>
          <a:prstGeom prst="roundRect">
            <a:avLst>
              <a:gd name="adj" fmla="val 4500"/>
            </a:avLst>
          </a:prstGeom>
          <a:solidFill>
            <a:srgbClr val="F1F8F4"/>
          </a:solidFill>
          <a:ln w="12700">
            <a:solidFill>
              <a:srgbClr val="E3E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1" name="Picture 10" descr="04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5293" y="1371600"/>
            <a:ext cx="2089052" cy="45262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75320" y="6108192"/>
            <a:ext cx="3429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15C"/>
                </a:solidFill>
                <a:latin typeface="Segoe UI"/>
              </a:rPr>
              <a:t>Карточка АЗС: цены и действия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455664"/>
            <a:ext cx="11183112" cy="18288"/>
          </a:xfrm>
          <a:prstGeom prst="rect">
            <a:avLst/>
          </a:prstGeom>
          <a:solidFill>
            <a:srgbClr val="DDE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10058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15C"/>
                </a:solidFill>
                <a:latin typeface="Segoe UI"/>
              </a:rPr>
              <a:t>«Заправка рядом» · учебный проект, тема №5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EF8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692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C9E6D6"/>
                </a:solidFill>
                <a:latin typeface="Segoe UI"/>
              </a:rPr>
              <a:t>РАЗДЕЛ 8 · ДЕМО И ВЫВОДЫ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2412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Экран 5: профиль и настройки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384048"/>
            <a:ext cx="6217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E6D6"/>
                </a:solidFill>
                <a:latin typeface="Segoe UI"/>
              </a:rPr>
              <a:t>14/22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15531"/>
                </a:solidFill>
                <a:latin typeface="Segoe UI"/>
              </a:rPr>
              <a:t>Что показано на экране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83664"/>
            <a:ext cx="7315200" cy="3950208"/>
          </a:xfrm>
          <a:prstGeom prst="roundRect">
            <a:avLst>
              <a:gd name="adj" fmla="val 4500"/>
            </a:avLst>
          </a:prstGeom>
          <a:solidFill>
            <a:srgbClr val="F6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57984"/>
            <a:ext cx="6720840" cy="342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37744" indent="-237744">
              <a:lnSpc>
                <a:spcPct val="105000"/>
              </a:lnSpc>
              <a:spcBef>
                <a:spcPts val="0"/>
              </a:spcBef>
              <a:spcAft>
                <a:spcPts val="1600"/>
              </a:spcAft>
            </a:pPr>
            <a:r>
              <a:rPr sz="1500" b="0" i="0">
                <a:solidFill>
                  <a:srgbClr val="1A1C19"/>
                </a:solidFill>
                <a:latin typeface="Segoe UI"/>
              </a:rPr>
              <a:t>•  Демо-локация — центр Екатеринбурга</a:t>
            </a:r>
          </a:p>
          <a:p>
            <a:pPr algn="l" marL="237744" indent="-237744">
              <a:lnSpc>
                <a:spcPct val="105000"/>
              </a:lnSpc>
              <a:spcBef>
                <a:spcPts val="0"/>
              </a:spcBef>
              <a:spcAft>
                <a:spcPts val="1600"/>
              </a:spcAft>
            </a:pPr>
            <a:r>
              <a:rPr sz="1500" b="0" i="0">
                <a:solidFill>
                  <a:srgbClr val="1A1C19"/>
                </a:solidFill>
                <a:latin typeface="Segoe UI"/>
              </a:rPr>
              <a:t>•  Единицы расстояния: километры</a:t>
            </a:r>
          </a:p>
          <a:p>
            <a:pPr algn="l" marL="237744" indent="-237744">
              <a:lnSpc>
                <a:spcPct val="105000"/>
              </a:lnSpc>
              <a:spcBef>
                <a:spcPts val="0"/>
              </a:spcBef>
              <a:spcAft>
                <a:spcPts val="1600"/>
              </a:spcAft>
            </a:pPr>
            <a:r>
              <a:rPr sz="1500" b="0" i="0">
                <a:solidFill>
                  <a:srgbClr val="1A1C19"/>
                </a:solidFill>
                <a:latin typeface="Segoe UI"/>
              </a:rPr>
              <a:t>•  Предпочитаемое топливо: АИ-95</a:t>
            </a:r>
          </a:p>
          <a:p>
            <a:pPr algn="l" marL="237744" indent="-237744">
              <a:lnSpc>
                <a:spcPct val="105000"/>
              </a:lnSpc>
              <a:spcBef>
                <a:spcPts val="0"/>
              </a:spcBef>
              <a:spcAft>
                <a:spcPts val="1600"/>
              </a:spcAft>
            </a:pPr>
            <a:r>
              <a:rPr sz="1500" b="0" i="0">
                <a:solidFill>
                  <a:srgbClr val="1A1C19"/>
                </a:solidFill>
                <a:latin typeface="Segoe UI"/>
              </a:rPr>
              <a:t>•  Избранное и свои АЗС</a:t>
            </a:r>
          </a:p>
          <a:p>
            <a:pPr algn="l" marL="237744" indent="-237744">
              <a:lnSpc>
                <a:spcPct val="105000"/>
              </a:lnSpc>
              <a:spcBef>
                <a:spcPts val="0"/>
              </a:spcBef>
              <a:spcAft>
                <a:spcPts val="1600"/>
              </a:spcAft>
            </a:pPr>
            <a:r>
              <a:rPr sz="1500" b="0" i="0">
                <a:solidFill>
                  <a:srgbClr val="1A1C19"/>
                </a:solidFill>
                <a:latin typeface="Segoe UI"/>
              </a:rPr>
              <a:t>•  Сброс настроек одним нажатием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6421" y="1252728"/>
            <a:ext cx="2326796" cy="4764024"/>
          </a:xfrm>
          <a:prstGeom prst="roundRect">
            <a:avLst>
              <a:gd name="adj" fmla="val 4500"/>
            </a:avLst>
          </a:prstGeom>
          <a:solidFill>
            <a:srgbClr val="F1F8F4"/>
          </a:solidFill>
          <a:ln w="12700">
            <a:solidFill>
              <a:srgbClr val="E3E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1" name="Picture 10" descr="05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5293" y="1371600"/>
            <a:ext cx="2089052" cy="45262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75320" y="6108192"/>
            <a:ext cx="3429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15C"/>
                </a:solidFill>
                <a:latin typeface="Segoe UI"/>
              </a:rPr>
              <a:t>Профиль: настройки, избранное и свои АЗС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455664"/>
            <a:ext cx="11183112" cy="18288"/>
          </a:xfrm>
          <a:prstGeom prst="rect">
            <a:avLst/>
          </a:prstGeom>
          <a:solidFill>
            <a:srgbClr val="DDE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10058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15C"/>
                </a:solidFill>
                <a:latin typeface="Segoe UI"/>
              </a:rPr>
              <a:t>«Заправка рядом» · учебный проект, тема №5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EF8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692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C9E6D6"/>
                </a:solidFill>
                <a:latin typeface="Segoe UI"/>
              </a:rPr>
              <a:t>РАЗДЕЛ 5 · ТЕХНИЧЕСКОЕ РЕШЕНИЕ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2412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Стек технологий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384048"/>
            <a:ext cx="6217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E6D6"/>
                </a:solidFill>
                <a:latin typeface="Segoe UI"/>
              </a:rPr>
              <a:t>15/22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89888"/>
            <a:ext cx="5422392" cy="1024128"/>
          </a:xfrm>
          <a:prstGeom prst="roundRect">
            <a:avLst>
              <a:gd name="adj" fmla="val 9000"/>
            </a:avLst>
          </a:prstGeom>
          <a:solidFill>
            <a:srgbClr val="F6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1208" y="1572768"/>
            <a:ext cx="68580" cy="658368"/>
          </a:xfrm>
          <a:prstGeom prst="rect">
            <a:avLst/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536192"/>
            <a:ext cx="493776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615C"/>
                </a:solidFill>
                <a:latin typeface="Segoe UI"/>
              </a:rPr>
              <a:t>Тип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A1C19"/>
                </a:solidFill>
                <a:latin typeface="Segoe UI"/>
              </a:rPr>
              <a:t>Нативное Android-приложение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389888"/>
            <a:ext cx="5422392" cy="1024128"/>
          </a:xfrm>
          <a:prstGeom prst="roundRect">
            <a:avLst>
              <a:gd name="adj" fmla="val 9000"/>
            </a:avLst>
          </a:prstGeom>
          <a:solidFill>
            <a:srgbClr val="F6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81927" y="1572768"/>
            <a:ext cx="68580" cy="658368"/>
          </a:xfrm>
          <a:prstGeom prst="rect">
            <a:avLst/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6248" y="1536192"/>
            <a:ext cx="493776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615C"/>
                </a:solidFill>
                <a:latin typeface="Segoe UI"/>
              </a:rPr>
              <a:t>Язык и UI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A1C19"/>
                </a:solidFill>
                <a:latin typeface="Segoe UI"/>
              </a:rPr>
              <a:t>Kotlin + Jetpack Compose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560320"/>
            <a:ext cx="5422392" cy="1024128"/>
          </a:xfrm>
          <a:prstGeom prst="roundRect">
            <a:avLst>
              <a:gd name="adj" fmla="val 9000"/>
            </a:avLst>
          </a:prstGeom>
          <a:solidFill>
            <a:srgbClr val="F6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1208" y="2743200"/>
            <a:ext cx="68580" cy="658368"/>
          </a:xfrm>
          <a:prstGeom prst="rect">
            <a:avLst/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" y="2706624"/>
            <a:ext cx="493776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615C"/>
                </a:solidFill>
                <a:latin typeface="Segoe UI"/>
              </a:rPr>
              <a:t>Архитектура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A1C19"/>
                </a:solidFill>
                <a:latin typeface="Segoe UI"/>
              </a:rPr>
              <a:t>MVVM, односторонний поток данных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2560320"/>
            <a:ext cx="5422392" cy="1024128"/>
          </a:xfrm>
          <a:prstGeom prst="roundRect">
            <a:avLst>
              <a:gd name="adj" fmla="val 9000"/>
            </a:avLst>
          </a:prstGeom>
          <a:solidFill>
            <a:srgbClr val="F6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81927" y="2743200"/>
            <a:ext cx="68580" cy="658368"/>
          </a:xfrm>
          <a:prstGeom prst="rect">
            <a:avLst/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6248" y="2706624"/>
            <a:ext cx="493776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615C"/>
                </a:solidFill>
                <a:latin typeface="Segoe UI"/>
              </a:rPr>
              <a:t>Карта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A1C19"/>
                </a:solidFill>
                <a:latin typeface="Segoe UI"/>
              </a:rPr>
              <a:t>osmdroid (OpenStreetMap)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730752"/>
            <a:ext cx="5422392" cy="1024128"/>
          </a:xfrm>
          <a:prstGeom prst="roundRect">
            <a:avLst>
              <a:gd name="adj" fmla="val 9000"/>
            </a:avLst>
          </a:prstGeom>
          <a:solidFill>
            <a:srgbClr val="F6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1208" y="3913632"/>
            <a:ext cx="68580" cy="658368"/>
          </a:xfrm>
          <a:prstGeom prst="rect">
            <a:avLst/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8" y="3877056"/>
            <a:ext cx="493776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615C"/>
                </a:solidFill>
                <a:latin typeface="Segoe UI"/>
              </a:rPr>
              <a:t>Геолокация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A1C19"/>
                </a:solidFill>
                <a:latin typeface="Segoe UI"/>
              </a:rPr>
              <a:t>play-services-location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730752"/>
            <a:ext cx="5422392" cy="1024128"/>
          </a:xfrm>
          <a:prstGeom prst="roundRect">
            <a:avLst>
              <a:gd name="adj" fmla="val 9000"/>
            </a:avLst>
          </a:prstGeom>
          <a:solidFill>
            <a:srgbClr val="F6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81927" y="3913632"/>
            <a:ext cx="68580" cy="658368"/>
          </a:xfrm>
          <a:prstGeom prst="rect">
            <a:avLst/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6248" y="3877056"/>
            <a:ext cx="493776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615C"/>
                </a:solidFill>
                <a:latin typeface="Segoe UI"/>
              </a:rPr>
              <a:t>Хранение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A1C19"/>
                </a:solidFill>
                <a:latin typeface="Segoe UI"/>
              </a:rPr>
              <a:t>SharedPreferences + Flow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956048"/>
            <a:ext cx="11183112" cy="1078992"/>
          </a:xfrm>
          <a:prstGeom prst="roundRect">
            <a:avLst>
              <a:gd name="adj" fmla="val 8000"/>
            </a:avLst>
          </a:prstGeom>
          <a:solidFill>
            <a:srgbClr val="F1F8F4"/>
          </a:solidFill>
          <a:ln w="12700">
            <a:solidFill>
              <a:srgbClr val="E3E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120640"/>
            <a:ext cx="106070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115531"/>
                </a:solidFill>
                <a:latin typeface="Segoe UI"/>
              </a:rPr>
              <a:t>Версии SDK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A1C19"/>
                </a:solidFill>
                <a:latin typeface="Segoe UI"/>
              </a:rPr>
              <a:t>minSdk 24  (Android 7.0, ~96% устройств)      targetSdk 36      compileSdk 37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6455664"/>
            <a:ext cx="11183112" cy="18288"/>
          </a:xfrm>
          <a:prstGeom prst="rect">
            <a:avLst/>
          </a:prstGeom>
          <a:solidFill>
            <a:srgbClr val="DDE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6519672"/>
            <a:ext cx="10058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15C"/>
                </a:solidFill>
                <a:latin typeface="Segoe UI"/>
              </a:rPr>
              <a:t>«Заправка рядом» · учебный проект, тема №5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EF8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692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C9E6D6"/>
                </a:solidFill>
                <a:latin typeface="Segoe UI"/>
              </a:rPr>
              <a:t>РАЗДЕЛ 5 · ТЕХНИЧЕСКОЕ РЕШЕНИЕ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2412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Архитектура приложения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384048"/>
            <a:ext cx="6217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E6D6"/>
                </a:solidFill>
                <a:latin typeface="Segoe UI"/>
              </a:rPr>
              <a:t>16/22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15531"/>
                </a:solidFill>
                <a:latin typeface="Segoe UI"/>
              </a:rPr>
              <a:t>Слои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09928"/>
            <a:ext cx="5394960" cy="713232"/>
          </a:xfrm>
          <a:prstGeom prst="roundRect">
            <a:avLst>
              <a:gd name="adj" fmla="val 10000"/>
            </a:avLst>
          </a:prstGeom>
          <a:solidFill>
            <a:srgbClr val="F6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709928"/>
            <a:ext cx="68580" cy="713232"/>
          </a:xfrm>
          <a:prstGeom prst="rect">
            <a:avLst/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773936"/>
            <a:ext cx="137160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5531"/>
                </a:solidFill>
                <a:latin typeface="Segoe UI"/>
              </a:rPr>
              <a:t>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1773936"/>
            <a:ext cx="365760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C19"/>
                </a:solidFill>
                <a:latin typeface="Segoe UI"/>
              </a:rPr>
              <a:t>Compose-экраны: карта, список, профиль, онбординг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551176"/>
            <a:ext cx="5394960" cy="713232"/>
          </a:xfrm>
          <a:prstGeom prst="roundRect">
            <a:avLst>
              <a:gd name="adj" fmla="val 10000"/>
            </a:avLst>
          </a:prstGeom>
          <a:solidFill>
            <a:srgbClr val="F6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551176"/>
            <a:ext cx="68580" cy="713232"/>
          </a:xfrm>
          <a:prstGeom prst="rect">
            <a:avLst/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2615184"/>
            <a:ext cx="137160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5531"/>
                </a:solidFill>
                <a:latin typeface="Segoe UI"/>
              </a:rPr>
              <a:t>viewmodel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2615184"/>
            <a:ext cx="365760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C19"/>
                </a:solidFill>
                <a:latin typeface="Segoe UI"/>
              </a:rPr>
              <a:t>Состояние экрана и бизнес-логика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392424"/>
            <a:ext cx="5394960" cy="713232"/>
          </a:xfrm>
          <a:prstGeom prst="roundRect">
            <a:avLst>
              <a:gd name="adj" fmla="val 10000"/>
            </a:avLst>
          </a:prstGeom>
          <a:solidFill>
            <a:srgbClr val="F6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392424"/>
            <a:ext cx="68580" cy="713232"/>
          </a:xfrm>
          <a:prstGeom prst="rect">
            <a:avLst/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456432"/>
            <a:ext cx="137160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5531"/>
                </a:solidFill>
                <a:latin typeface="Segoe UI"/>
              </a:rPr>
              <a:t>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3456432"/>
            <a:ext cx="365760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C19"/>
                </a:solidFill>
                <a:latin typeface="Segoe UI"/>
              </a:rPr>
              <a:t>Справочник 26 АЗС, SharedPreferences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233672"/>
            <a:ext cx="5394960" cy="713232"/>
          </a:xfrm>
          <a:prstGeom prst="roundRect">
            <a:avLst>
              <a:gd name="adj" fmla="val 10000"/>
            </a:avLst>
          </a:prstGeom>
          <a:solidFill>
            <a:srgbClr val="F6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4233672"/>
            <a:ext cx="68580" cy="713232"/>
          </a:xfrm>
          <a:prstGeom prst="rect">
            <a:avLst/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4297680"/>
            <a:ext cx="137160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5531"/>
                </a:solidFill>
                <a:latin typeface="Segoe UI"/>
              </a:rPr>
              <a:t>location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4297680"/>
            <a:ext cx="365760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C19"/>
                </a:solidFill>
                <a:latin typeface="Segoe UI"/>
              </a:rPr>
              <a:t>FusedLocationProvider, демо-локация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074920"/>
            <a:ext cx="5394960" cy="713232"/>
          </a:xfrm>
          <a:prstGeom prst="roundRect">
            <a:avLst>
              <a:gd name="adj" fmla="val 10000"/>
            </a:avLst>
          </a:prstGeom>
          <a:solidFill>
            <a:srgbClr val="F6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5074920"/>
            <a:ext cx="68580" cy="713232"/>
          </a:xfrm>
          <a:prstGeom prst="rect">
            <a:avLst/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5138928"/>
            <a:ext cx="137160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5531"/>
                </a:solidFill>
                <a:latin typeface="Segoe UI"/>
              </a:rPr>
              <a:t>util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20" y="5138928"/>
            <a:ext cx="365760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C19"/>
                </a:solidFill>
                <a:latin typeface="Segoe UI"/>
              </a:rPr>
              <a:t>Формула гаверсинусов, формат цены и км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1325880"/>
            <a:ext cx="5513832" cy="4617720"/>
          </a:xfrm>
          <a:prstGeom prst="roundRect">
            <a:avLst>
              <a:gd name="adj" fmla="val 4000"/>
            </a:avLst>
          </a:prstGeom>
          <a:solidFill>
            <a:srgbClr val="F1F8F4"/>
          </a:solidFill>
          <a:ln w="12700">
            <a:solidFill>
              <a:srgbClr val="E3E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1508760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15531"/>
                </a:solidFill>
                <a:latin typeface="Segoe UI"/>
              </a:rPr>
              <a:t>Односторонний поток данных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1975104"/>
            <a:ext cx="4343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ui — Compose-экраны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766560" y="1975104"/>
            <a:ext cx="4343400" cy="548640"/>
          </a:xfrm>
          <a:prstGeom prst="roundRect">
            <a:avLst>
              <a:gd name="adj" fmla="val 12000"/>
            </a:avLst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Down Arrow 31"/>
          <p:cNvSpPr/>
          <p:nvPr/>
        </p:nvSpPr>
        <p:spPr>
          <a:xfrm>
            <a:off x="8732520" y="2560320"/>
            <a:ext cx="411480" cy="457200"/>
          </a:xfrm>
          <a:prstGeom prst="downArrow">
            <a:avLst/>
          </a:prstGeom>
          <a:solidFill>
            <a:srgbClr val="EF8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81160" y="2596896"/>
            <a:ext cx="22860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A4B00"/>
                </a:solidFill>
                <a:latin typeface="Segoe UI"/>
              </a:rPr>
              <a:t>состояние ↓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766560" y="3054096"/>
            <a:ext cx="4343400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B7F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66560" y="3054096"/>
            <a:ext cx="4343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15531"/>
                </a:solidFill>
                <a:latin typeface="Segoe UI"/>
              </a:rPr>
              <a:t>viewmodel — состояние</a:t>
            </a:r>
          </a:p>
        </p:txBody>
      </p:sp>
      <p:sp>
        <p:nvSpPr>
          <p:cNvPr id="36" name="Down Arrow 35"/>
          <p:cNvSpPr/>
          <p:nvPr/>
        </p:nvSpPr>
        <p:spPr>
          <a:xfrm>
            <a:off x="8732520" y="3639312"/>
            <a:ext cx="411480" cy="457200"/>
          </a:xfrm>
          <a:prstGeom prst="downArrow">
            <a:avLst/>
          </a:prstGeom>
          <a:solidFill>
            <a:srgbClr val="EF8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81160" y="3675887"/>
            <a:ext cx="22860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A4B00"/>
                </a:solidFill>
                <a:latin typeface="Segoe UI"/>
              </a:rPr>
              <a:t>данные ↓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766560" y="4133087"/>
            <a:ext cx="4343400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B7F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66560" y="4133087"/>
            <a:ext cx="4343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15531"/>
                </a:solidFill>
                <a:latin typeface="Segoe UI"/>
              </a:rPr>
              <a:t>data · location · util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6560" y="4846320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B615C"/>
                </a:solidFill>
                <a:latin typeface="Segoe UI"/>
              </a:rPr>
              <a:t>События (клики, фильтры) идут только вверх; состояние — только вниз. Экраны не знают о источнике данных.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6455664"/>
            <a:ext cx="11183112" cy="18288"/>
          </a:xfrm>
          <a:prstGeom prst="rect">
            <a:avLst/>
          </a:prstGeom>
          <a:solidFill>
            <a:srgbClr val="DDE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6519672"/>
            <a:ext cx="10058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15C"/>
                </a:solidFill>
                <a:latin typeface="Segoe UI"/>
              </a:rPr>
              <a:t>«Заправка рядом» · учебный проект, тема №5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EF8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692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C9E6D6"/>
                </a:solidFill>
                <a:latin typeface="Segoe UI"/>
              </a:rPr>
              <a:t>РАЗДЕЛ 5 · ТЕХНИЧЕСКОЕ РЕШЕНИЕ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2412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Интеграции и безопасность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384048"/>
            <a:ext cx="6217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E6D6"/>
                </a:solidFill>
                <a:latin typeface="Segoe UI"/>
              </a:rPr>
              <a:t>17/22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89888"/>
            <a:ext cx="5486400" cy="4434840"/>
          </a:xfrm>
          <a:prstGeom prst="roundRect">
            <a:avLst>
              <a:gd name="adj" fmla="val 4000"/>
            </a:avLst>
          </a:prstGeom>
          <a:solidFill>
            <a:srgbClr val="F6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91056"/>
            <a:ext cx="4937760" cy="4069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50" b="1" i="0">
                <a:solidFill>
                  <a:srgbClr val="115531"/>
                </a:solidFill>
                <a:latin typeface="Segoe UI"/>
              </a:rPr>
              <a:t>Интеграции</a:t>
            </a:r>
          </a:p>
          <a:p>
            <a:pPr algn="l" marL="237744" indent="-237744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0" i="0">
                <a:solidFill>
                  <a:srgbClr val="1A1C19"/>
                </a:solidFill>
                <a:latin typeface="Segoe UI"/>
              </a:rPr>
              <a:t>—  Карта: OpenStreetMap через osmdroid.</a:t>
            </a:r>
          </a:p>
          <a:p>
            <a:pPr algn="l" marL="237744" indent="-237744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0" i="0">
                <a:solidFill>
                  <a:srgbClr val="1A1C19"/>
                </a:solidFill>
                <a:latin typeface="Segoe UI"/>
              </a:rPr>
              <a:t>—  Тайлы берём с tile.openstreetmap.de — штатный tile.openstreetmap.org отдаёт 403 сторонним приложениям, CARTO и Wikimedia требуют ключ либо тоже 403.</a:t>
            </a:r>
          </a:p>
          <a:p>
            <a:pPr algn="l" marL="237744" indent="-237744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0" i="0">
                <a:solidFill>
                  <a:srgbClr val="1A1C19"/>
                </a:solidFill>
                <a:latin typeface="Segoe UI"/>
              </a:rPr>
              <a:t>—  Маршрут: неявный Intent — открывает внешний навигатор.</a:t>
            </a:r>
          </a:p>
          <a:p>
            <a:pPr algn="l" marL="237744" indent="-237744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0" i="0">
                <a:solidFill>
                  <a:srgbClr val="1A1C19"/>
                </a:solidFill>
                <a:latin typeface="Segoe UI"/>
              </a:rPr>
              <a:t>—  Серверных интеграций в MVP нет.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389888"/>
            <a:ext cx="5422392" cy="4434840"/>
          </a:xfrm>
          <a:prstGeom prst="roundRect">
            <a:avLst>
              <a:gd name="adj" fmla="val 4000"/>
            </a:avLst>
          </a:prstGeom>
          <a:solidFill>
            <a:srgbClr val="F1F8F4"/>
          </a:solidFill>
          <a:ln w="12700">
            <a:solidFill>
              <a:srgbClr val="E3E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591056"/>
            <a:ext cx="4873752" cy="4069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50" b="1" i="0">
                <a:solidFill>
                  <a:srgbClr val="115531"/>
                </a:solidFill>
                <a:latin typeface="Segoe UI"/>
              </a:rPr>
              <a:t>Разрешения и данные</a:t>
            </a:r>
          </a:p>
          <a:p>
            <a:pPr algn="l" marL="237744" indent="-237744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0" i="0">
                <a:solidFill>
                  <a:srgbClr val="1A1C19"/>
                </a:solidFill>
                <a:latin typeface="Segoe UI"/>
              </a:rPr>
              <a:t>—  Запрашивается только геолокация — и только при входе в приложение.</a:t>
            </a:r>
          </a:p>
          <a:p>
            <a:pPr algn="l" marL="237744" indent="-237744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0" i="0">
                <a:solidFill>
                  <a:srgbClr val="1A1C19"/>
                </a:solidFill>
                <a:latin typeface="Segoe UI"/>
              </a:rPr>
              <a:t>—  Отказ не блокирует работу: доступна демо-локация и ручной выбор.</a:t>
            </a:r>
          </a:p>
          <a:p>
            <a:pPr algn="l" marL="237744" indent="-237744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0" i="0">
                <a:solidFill>
                  <a:srgbClr val="1A1C19"/>
                </a:solidFill>
                <a:latin typeface="Segoe UI"/>
              </a:rPr>
              <a:t>—  Все данные хранятся только на устройстве (SharedPreferences).</a:t>
            </a:r>
          </a:p>
          <a:p>
            <a:pPr algn="l" marL="237744" indent="-237744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0" i="0">
                <a:solidFill>
                  <a:srgbClr val="1A1C19"/>
                </a:solidFill>
                <a:latin typeface="Segoe UI"/>
              </a:rPr>
              <a:t>—  152-ФЗ: персональные данные не собираются и не передаются — серверной части нет, регистрации нет.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455664"/>
            <a:ext cx="11183112" cy="18288"/>
          </a:xfrm>
          <a:prstGeom prst="rect">
            <a:avLst/>
          </a:prstGeom>
          <a:solidFill>
            <a:srgbClr val="DDE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519672"/>
            <a:ext cx="10058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15C"/>
                </a:solidFill>
                <a:latin typeface="Segoe UI"/>
              </a:rPr>
              <a:t>«Заправка рядом» · учебный проект, тема №5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EF8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692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C9E6D6"/>
                </a:solidFill>
                <a:latin typeface="Segoe UI"/>
              </a:rPr>
              <a:t>РАЗДЕЛ 6 · УПРАВЛЕНИЕ ПРОЕКТОМ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2412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Роли и план работ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384048"/>
            <a:ext cx="6217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E6D6"/>
                </a:solidFill>
                <a:latin typeface="Segoe UI"/>
              </a:rPr>
              <a:t>18/22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92608" y="1371600"/>
          <a:ext cx="11612880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06040"/>
                <a:gridCol w="5623560"/>
                <a:gridCol w="3383280"/>
              </a:tblGrid>
              <a:tr h="54864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Роль</a:t>
                      </a:r>
                    </a:p>
                  </a:txBody>
                  <a:tcPr marL="91440" marR="73152" marT="36576" marB="36576" anchor="ctr">
                    <a:solidFill>
                      <a:srgbClr val="1B7F4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Зона ответственности</a:t>
                      </a:r>
                    </a:p>
                  </a:txBody>
                  <a:tcPr marL="91440" marR="73152" marT="36576" marB="36576" anchor="ctr">
                    <a:solidFill>
                      <a:srgbClr val="1B7F4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Артефакт на выходе</a:t>
                      </a:r>
                    </a:p>
                  </a:txBody>
                  <a:tcPr marL="91440" marR="73152" marT="36576" marB="36576" anchor="ctr">
                    <a:solidFill>
                      <a:srgbClr val="1B7F4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A1C19"/>
                          </a:solidFill>
                          <a:latin typeface="Segoe UI"/>
                        </a:rPr>
                        <a:t>Проджект-менеджер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C19"/>
                          </a:solidFill>
                          <a:latin typeface="Segoe UI"/>
                        </a:rPr>
                        <a:t>Скоуп, план, риски, приёмка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C19"/>
                          </a:solidFill>
                          <a:latin typeface="Segoe UI"/>
                        </a:rPr>
                        <a:t>ТЗ, чек-лист готовности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A1C19"/>
                          </a:solidFill>
                          <a:latin typeface="Segoe UI"/>
                        </a:rPr>
                        <a:t>Дизайнер UI/UX</a:t>
                      </a:r>
                    </a:p>
                  </a:txBody>
                  <a:tcPr marL="91440" marR="73152" marT="36576" marB="36576" anchor="ctr">
                    <a:solidFill>
                      <a:srgbClr val="F6F7F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C19"/>
                          </a:solidFill>
                          <a:latin typeface="Segoe UI"/>
                        </a:rPr>
                        <a:t>Онбординг, карта, список, карточка АЗС</a:t>
                      </a:r>
                    </a:p>
                  </a:txBody>
                  <a:tcPr marL="91440" marR="73152" marT="36576" marB="36576" anchor="ctr">
                    <a:solidFill>
                      <a:srgbClr val="F6F7F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C19"/>
                          </a:solidFill>
                          <a:latin typeface="Segoe UI"/>
                        </a:rPr>
                        <a:t>Макеты экранов, UI-кит</a:t>
                      </a:r>
                    </a:p>
                  </a:txBody>
                  <a:tcPr marL="91440" marR="73152" marT="36576" marB="36576" anchor="ctr">
                    <a:solidFill>
                      <a:srgbClr val="F6F7F4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A1C19"/>
                          </a:solidFill>
                          <a:latin typeface="Segoe UI"/>
                        </a:rPr>
                        <a:t>Android-разработчик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C19"/>
                          </a:solidFill>
                          <a:latin typeface="Segoe UI"/>
                        </a:rPr>
                        <a:t>Kotlin, Compose, MVVM, карта и геолокация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C19"/>
                          </a:solidFill>
                          <a:latin typeface="Segoe UI"/>
                        </a:rPr>
                        <a:t>Код, APK, unit-тесты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A1C19"/>
                          </a:solidFill>
                          <a:latin typeface="Segoe UI"/>
                        </a:rPr>
                        <a:t>QA и аналитик</a:t>
                      </a:r>
                    </a:p>
                  </a:txBody>
                  <a:tcPr marL="91440" marR="73152" marT="36576" marB="36576" anchor="ctr">
                    <a:solidFill>
                      <a:srgbClr val="F6F7F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C19"/>
                          </a:solidFill>
                          <a:latin typeface="Segoe UI"/>
                        </a:rPr>
                        <a:t>Тест-кейсы, метрики, прогон сценариев</a:t>
                      </a:r>
                    </a:p>
                  </a:txBody>
                  <a:tcPr marL="91440" marR="73152" marT="36576" marB="36576" anchor="ctr">
                    <a:solidFill>
                      <a:srgbClr val="F6F7F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C19"/>
                          </a:solidFill>
                          <a:latin typeface="Segoe UI"/>
                        </a:rPr>
                        <a:t>7 тестов, отчёт по метрикам</a:t>
                      </a:r>
                    </a:p>
                  </a:txBody>
                  <a:tcPr marL="91440" marR="73152" marT="36576" marB="36576" anchor="ctr">
                    <a:solidFill>
                      <a:srgbClr val="F6F7F4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92608" y="4041648"/>
            <a:ext cx="116128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15531"/>
                </a:solidFill>
                <a:latin typeface="Segoe UI"/>
              </a:rPr>
              <a:t>План по 5 этапам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" y="4425696"/>
            <a:ext cx="2231136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2608" y="4425696"/>
            <a:ext cx="2231136" cy="54864"/>
          </a:xfrm>
          <a:prstGeom prst="rect">
            <a:avLst/>
          </a:prstGeom>
          <a:solidFill>
            <a:srgbClr val="EF8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4590288"/>
            <a:ext cx="193852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15531"/>
                </a:solidFill>
                <a:latin typeface="Segoe UI"/>
              </a:rPr>
              <a:t>1. Анализ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15C"/>
                </a:solidFill>
                <a:latin typeface="Segoe UI"/>
              </a:rPr>
              <a:t>Проблема, конкуренты, скоуп MVP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33472" y="4425696"/>
            <a:ext cx="2231136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33472" y="4425696"/>
            <a:ext cx="2231136" cy="54864"/>
          </a:xfrm>
          <a:prstGeom prst="rect">
            <a:avLst/>
          </a:prstGeom>
          <a:solidFill>
            <a:srgbClr val="EF8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79776" y="4590288"/>
            <a:ext cx="193852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15531"/>
                </a:solidFill>
                <a:latin typeface="Segoe UI"/>
              </a:rPr>
              <a:t>2. Дизайн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15C"/>
                </a:solidFill>
                <a:latin typeface="Segoe UI"/>
              </a:rPr>
              <a:t>Сценарии, макеты экранов, UI-кит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74336" y="4425696"/>
            <a:ext cx="2231136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74336" y="4425696"/>
            <a:ext cx="2231136" cy="54864"/>
          </a:xfrm>
          <a:prstGeom prst="rect">
            <a:avLst/>
          </a:prstGeom>
          <a:solidFill>
            <a:srgbClr val="EF8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0" y="4590288"/>
            <a:ext cx="193852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15531"/>
                </a:solidFill>
                <a:latin typeface="Segoe UI"/>
              </a:rPr>
              <a:t>3. Разработка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15C"/>
                </a:solidFill>
                <a:latin typeface="Segoe UI"/>
              </a:rPr>
              <a:t>Карта, список, карточка, профиль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0" y="4425696"/>
            <a:ext cx="2231136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0" y="4425696"/>
            <a:ext cx="2231136" cy="54864"/>
          </a:xfrm>
          <a:prstGeom prst="rect">
            <a:avLst/>
          </a:prstGeom>
          <a:solidFill>
            <a:srgbClr val="EF8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61504" y="4590288"/>
            <a:ext cx="193852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15531"/>
                </a:solidFill>
                <a:latin typeface="Segoe UI"/>
              </a:rPr>
              <a:t>4. Тестирование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15C"/>
                </a:solidFill>
                <a:latin typeface="Segoe UI"/>
              </a:rPr>
              <a:t>Unit-тесты, прогон сценариев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56064" y="4425696"/>
            <a:ext cx="2231136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656064" y="4425696"/>
            <a:ext cx="2231136" cy="54864"/>
          </a:xfrm>
          <a:prstGeom prst="rect">
            <a:avLst/>
          </a:prstGeom>
          <a:solidFill>
            <a:srgbClr val="EF8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02368" y="4590288"/>
            <a:ext cx="193852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15531"/>
                </a:solidFill>
                <a:latin typeface="Segoe UI"/>
              </a:rPr>
              <a:t>5. Защита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15C"/>
                </a:solidFill>
                <a:latin typeface="Segoe UI"/>
              </a:rPr>
              <a:t>Скриншоты, отчёт, презентация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6455664"/>
            <a:ext cx="11183112" cy="18288"/>
          </a:xfrm>
          <a:prstGeom prst="rect">
            <a:avLst/>
          </a:prstGeom>
          <a:solidFill>
            <a:srgbClr val="DDE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6519672"/>
            <a:ext cx="10058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15C"/>
                </a:solidFill>
                <a:latin typeface="Segoe UI"/>
              </a:rPr>
              <a:t>«Заправка рядом» · учебный проект, тема №5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EF8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692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C9E6D6"/>
                </a:solidFill>
                <a:latin typeface="Segoe UI"/>
              </a:rPr>
              <a:t>РАЗДЕЛ 6 · УПРАВЛЕНИЕ ПРОЕКТОМ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2412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Риски и меры снижения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384048"/>
            <a:ext cx="6217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E6D6"/>
                </a:solidFill>
                <a:latin typeface="Segoe UI"/>
              </a:rPr>
              <a:t>19/22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92608" y="1417320"/>
          <a:ext cx="11612880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35040"/>
                <a:gridCol w="5577840"/>
              </a:tblGrid>
              <a:tr h="65836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Риск</a:t>
                      </a:r>
                    </a:p>
                  </a:txBody>
                  <a:tcPr marL="91440" marR="73152" marT="36576" marB="36576" anchor="ctr">
                    <a:solidFill>
                      <a:srgbClr val="1B7F4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Мера</a:t>
                      </a:r>
                    </a:p>
                  </a:txBody>
                  <a:tcPr marL="91440" marR="73152" marT="36576" marB="36576" anchor="ctr">
                    <a:solidFill>
                      <a:srgbClr val="1B7F4B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A1C19"/>
                          </a:solidFill>
                          <a:latin typeface="Segoe UI"/>
                        </a:rPr>
                        <a:t>Тайлы карты недоступны: часть провайдеров отдаёт 403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C19"/>
                          </a:solidFill>
                          <a:latin typeface="Segoe UI"/>
                        </a:rPr>
                        <a:t>Свой провайдер тайлов, кэш и офлайн-карта в бэклоге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A1C19"/>
                          </a:solidFill>
                          <a:latin typeface="Segoe UI"/>
                        </a:rPr>
                        <a:t>Цены на топливо быстро устаревают</a:t>
                      </a:r>
                    </a:p>
                  </a:txBody>
                  <a:tcPr marL="91440" marR="73152" marT="36576" marB="36576" anchor="ctr">
                    <a:solidFill>
                      <a:srgbClr val="F6F7F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C19"/>
                          </a:solidFill>
                          <a:latin typeface="Segoe UI"/>
                        </a:rPr>
                        <a:t>Пометка «данные демонстрационные»; серверный API — первый пункт бэклога</a:t>
                      </a:r>
                    </a:p>
                  </a:txBody>
                  <a:tcPr marL="91440" marR="73152" marT="36576" marB="36576" anchor="ctr">
                    <a:solidFill>
                      <a:srgbClr val="F6F7F4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A1C19"/>
                          </a:solidFill>
                          <a:latin typeface="Segoe UI"/>
                        </a:rPr>
                        <a:t>Пользователь отказался от геолокации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C19"/>
                          </a:solidFill>
                          <a:latin typeface="Segoe UI"/>
                        </a:rPr>
                        <a:t>Демо-локация (центр Екатеринбурга) и ручной выбор точки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A1C19"/>
                          </a:solidFill>
                          <a:latin typeface="Segoe UI"/>
                        </a:rPr>
                        <a:t>Вымышленные данные об АЗС снижают доверие</a:t>
                      </a:r>
                    </a:p>
                  </a:txBody>
                  <a:tcPr marL="91440" marR="73152" marT="36576" marB="36576" anchor="ctr">
                    <a:solidFill>
                      <a:srgbClr val="F6F7F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C19"/>
                          </a:solidFill>
                          <a:latin typeface="Segoe UI"/>
                        </a:rPr>
                        <a:t>Честная пометка в интерфейсе и в отчёте; реальные улицы Екатеринбурга</a:t>
                      </a:r>
                    </a:p>
                  </a:txBody>
                  <a:tcPr marL="91440" marR="73152" marT="36576" marB="36576" anchor="ctr">
                    <a:solidFill>
                      <a:srgbClr val="F6F7F4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A1C19"/>
                          </a:solidFill>
                          <a:latin typeface="Segoe UI"/>
                        </a:rPr>
                        <a:t>Сжатые сроки, риск не успеть к защите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C19"/>
                          </a:solidFill>
                          <a:latin typeface="Segoe UI"/>
                        </a:rPr>
                        <a:t>Жёсткий скоуп MVP, 10 идей вынесены в бэклог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92608" y="5852160"/>
            <a:ext cx="11612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5B615C"/>
                </a:solidFill>
                <a:latin typeface="Segoe UI"/>
              </a:rPr>
              <a:t>Ключевой риск снят осознанно: тайлы переведены на tile.openstreetmap.de после 403 от штатного сервера.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55664"/>
            <a:ext cx="11183112" cy="18288"/>
          </a:xfrm>
          <a:prstGeom prst="rect">
            <a:avLst/>
          </a:prstGeom>
          <a:solidFill>
            <a:srgbClr val="DDE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19672"/>
            <a:ext cx="10058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15C"/>
                </a:solidFill>
                <a:latin typeface="Segoe UI"/>
              </a:rPr>
              <a:t>«Заправка рядом» · учебный проект, тема №5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EF8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692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C9E6D6"/>
                </a:solidFill>
                <a:latin typeface="Segoe UI"/>
              </a:rPr>
              <a:t>РАЗДЕЛ 7 · РЕЗУЛЬТАТЫ И МЕТРИКИ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2412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Метрики и достигнутое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384048"/>
            <a:ext cx="6217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E6D6"/>
                </a:solidFill>
                <a:latin typeface="Segoe UI"/>
              </a:rPr>
              <a:t>20/22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92608" y="1371600"/>
          <a:ext cx="6858000" cy="34015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14600"/>
                <a:gridCol w="1143000"/>
                <a:gridCol w="3200400"/>
              </a:tblGrid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Segoe UI"/>
                        </a:rPr>
                        <a:t>Метрика</a:t>
                      </a:r>
                    </a:p>
                  </a:txBody>
                  <a:tcPr marL="91440" marR="73152" marT="36576" marB="36576" anchor="ctr">
                    <a:solidFill>
                      <a:srgbClr val="1B7F4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Segoe UI"/>
                        </a:rPr>
                        <a:t>Цель</a:t>
                      </a:r>
                    </a:p>
                  </a:txBody>
                  <a:tcPr marL="91440" marR="73152" marT="36576" marB="36576" anchor="ctr">
                    <a:solidFill>
                      <a:srgbClr val="1B7F4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Segoe UI"/>
                        </a:rPr>
                        <a:t>Как измерить</a:t>
                      </a:r>
                    </a:p>
                  </a:txBody>
                  <a:tcPr marL="91440" marR="73152" marT="36576" marB="36576" anchor="ctr">
                    <a:solidFill>
                      <a:srgbClr val="1B7F4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A1C19"/>
                          </a:solidFill>
                          <a:latin typeface="Segoe UI"/>
                        </a:rPr>
                        <a:t>Активация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C19"/>
                          </a:solidFill>
                          <a:latin typeface="Segoe UI"/>
                        </a:rPr>
                        <a:t>≥ 60%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C19"/>
                          </a:solidFill>
                          <a:latin typeface="Segoe UI"/>
                        </a:rPr>
                        <a:t>Аналитика в приложении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A1C19"/>
                          </a:solidFill>
                          <a:latin typeface="Segoe UI"/>
                        </a:rPr>
                        <a:t>Удержание 1 дня</a:t>
                      </a:r>
                    </a:p>
                  </a:txBody>
                  <a:tcPr marL="91440" marR="73152" marT="36576" marB="36576" anchor="ctr">
                    <a:solidFill>
                      <a:srgbClr val="F6F7F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C19"/>
                          </a:solidFill>
                          <a:latin typeface="Segoe UI"/>
                        </a:rPr>
                        <a:t>≥ 40%</a:t>
                      </a:r>
                    </a:p>
                  </a:txBody>
                  <a:tcPr marL="91440" marR="73152" marT="36576" marB="36576" anchor="ctr">
                    <a:solidFill>
                      <a:srgbClr val="F6F7F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C19"/>
                          </a:solidFill>
                          <a:latin typeface="Segoe UI"/>
                        </a:rPr>
                        <a:t>Аналитика в приложении</a:t>
                      </a:r>
                    </a:p>
                  </a:txBody>
                  <a:tcPr marL="91440" marR="73152" marT="36576" marB="36576" anchor="ctr">
                    <a:solidFill>
                      <a:srgbClr val="F6F7F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A1C19"/>
                          </a:solidFill>
                          <a:latin typeface="Segoe UI"/>
                        </a:rPr>
                        <a:t>Конверсия в целевое действие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C19"/>
                          </a:solidFill>
                          <a:latin typeface="Segoe UI"/>
                        </a:rPr>
                        <a:t>≥ 20%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C19"/>
                          </a:solidFill>
                          <a:latin typeface="Segoe UI"/>
                        </a:rPr>
                        <a:t>Аналитика в приложении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A1C19"/>
                          </a:solidFill>
                          <a:latin typeface="Segoe UI"/>
                        </a:rPr>
                        <a:t>Crash rate</a:t>
                      </a:r>
                    </a:p>
                  </a:txBody>
                  <a:tcPr marL="91440" marR="73152" marT="36576" marB="36576" anchor="ctr">
                    <a:solidFill>
                      <a:srgbClr val="F6F7F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C19"/>
                          </a:solidFill>
                          <a:latin typeface="Segoe UI"/>
                        </a:rPr>
                        <a:t>&lt; 2%</a:t>
                      </a:r>
                    </a:p>
                  </a:txBody>
                  <a:tcPr marL="91440" marR="73152" marT="36576" marB="36576" anchor="ctr">
                    <a:solidFill>
                      <a:srgbClr val="F6F7F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C19"/>
                          </a:solidFill>
                          <a:latin typeface="Segoe UI"/>
                        </a:rPr>
                        <a:t>Crashlytics / Sentry</a:t>
                      </a:r>
                    </a:p>
                  </a:txBody>
                  <a:tcPr marL="91440" marR="73152" marT="36576" marB="36576" anchor="ctr">
                    <a:solidFill>
                      <a:srgbClr val="F6F7F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A1C19"/>
                          </a:solidFill>
                          <a:latin typeface="Segoe UI"/>
                        </a:rPr>
                        <a:t>Средняя оценка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C19"/>
                          </a:solidFill>
                          <a:latin typeface="Segoe UI"/>
                        </a:rPr>
                        <a:t>≥ 4.0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C19"/>
                          </a:solidFill>
                          <a:latin typeface="Segoe UI"/>
                        </a:rPr>
                        <a:t>Опрос тестировщиков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92608" y="5029200"/>
            <a:ext cx="6858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5B615C"/>
                </a:solidFill>
                <a:latin typeface="Segoe UI"/>
              </a:rPr>
              <a:t>Адаптация под MVP: регистрации нет, поэтому активация считается как «прошёл онбординг и разрешил геолокацию».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1371600"/>
            <a:ext cx="4279392" cy="4572000"/>
          </a:xfrm>
          <a:prstGeom prst="roundRect">
            <a:avLst>
              <a:gd name="adj" fmla="val 4500"/>
            </a:avLst>
          </a:prstGeom>
          <a:solidFill>
            <a:srgbClr val="F1F8F4"/>
          </a:solidFill>
          <a:ln w="12700">
            <a:solidFill>
              <a:srgbClr val="E3E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0" y="1572768"/>
            <a:ext cx="3749039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600" b="1" i="0">
                <a:solidFill>
                  <a:srgbClr val="115531"/>
                </a:solidFill>
                <a:latin typeface="Segoe UI"/>
              </a:rPr>
              <a:t>Уже сделано</a:t>
            </a:r>
          </a:p>
          <a:p>
            <a:pPr algn="l" marL="237744" indent="-237744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250" b="0" i="0">
                <a:solidFill>
                  <a:srgbClr val="1A1C19"/>
                </a:solidFill>
                <a:latin typeface="Segoe UI"/>
              </a:rPr>
              <a:t>—  26 АЗС и 7 брендов в локальном справочнике</a:t>
            </a:r>
          </a:p>
          <a:p>
            <a:pPr algn="l" marL="237744" indent="-237744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250" b="0" i="0">
                <a:solidFill>
                  <a:srgbClr val="1A1C19"/>
                </a:solidFill>
                <a:latin typeface="Segoe UI"/>
              </a:rPr>
              <a:t>—  APK app-debug.apk — 13,33 МБ, сборка успешна</a:t>
            </a:r>
          </a:p>
          <a:p>
            <a:pPr algn="l" marL="237744" indent="-237744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250" b="0" i="0">
                <a:solidFill>
                  <a:srgbClr val="1A1C19"/>
                </a:solidFill>
                <a:latin typeface="Segoe UI"/>
              </a:rPr>
              <a:t>—  7 unit-тестов GeoTest: гаверсинус и форматирование</a:t>
            </a:r>
          </a:p>
          <a:p>
            <a:pPr algn="l" marL="237744" indent="-237744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250" b="0" i="0">
                <a:solidFill>
                  <a:srgbClr val="1A1C19"/>
                </a:solidFill>
                <a:latin typeface="Segoe UI"/>
              </a:rPr>
              <a:t>—  5 ключевых экранов проверены на эмуляторе Android 12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455664"/>
            <a:ext cx="11183112" cy="18288"/>
          </a:xfrm>
          <a:prstGeom prst="rect">
            <a:avLst/>
          </a:prstGeom>
          <a:solidFill>
            <a:srgbClr val="DDE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519672"/>
            <a:ext cx="10058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15C"/>
                </a:solidFill>
                <a:latin typeface="Segoe UI"/>
              </a:rPr>
              <a:t>«Заправка рядом» · учебный проект, тема №5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EF8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692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C9E6D6"/>
                </a:solidFill>
                <a:latin typeface="Segoe UI"/>
              </a:rPr>
              <a:t>РАЗДЕЛ 8 · ДЕМО И ВЫВОДЫ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2412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Segoe UI"/>
              </a:rPr>
              <a:t>Итоги проекта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384048"/>
            <a:ext cx="6217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E6D6"/>
                </a:solidFill>
                <a:latin typeface="Segoe UI"/>
              </a:rPr>
              <a:t>21/22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389888"/>
            <a:ext cx="3666744" cy="4617720"/>
          </a:xfrm>
          <a:prstGeom prst="roundRect">
            <a:avLst>
              <a:gd name="adj" fmla="val 5000"/>
            </a:avLst>
          </a:prstGeom>
          <a:solidFill>
            <a:srgbClr val="E3EFE9"/>
          </a:solidFill>
          <a:ln w="12700">
            <a:solidFill>
              <a:srgbClr val="DD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1591056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15531"/>
                </a:solidFill>
                <a:latin typeface="Segoe UI"/>
              </a:rPr>
              <a:t>Что получилось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2084831"/>
            <a:ext cx="3200400" cy="3703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37744" indent="-237744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200" b="0" i="0">
                <a:solidFill>
                  <a:srgbClr val="1A1C19"/>
                </a:solidFill>
                <a:latin typeface="Segoe UI"/>
              </a:rPr>
              <a:t>•  Главный сценарий решается за 1–3 действия</a:t>
            </a:r>
          </a:p>
          <a:p>
            <a:pPr algn="l" marL="237744" indent="-237744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200" b="0" i="0">
                <a:solidFill>
                  <a:srgbClr val="1A1C19"/>
                </a:solidFill>
                <a:latin typeface="Segoe UI"/>
              </a:rPr>
              <a:t>•  Ближайшая АЗС и расстояние считаются по геолокации</a:t>
            </a:r>
          </a:p>
          <a:p>
            <a:pPr algn="l" marL="237744" indent="-237744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200" b="0" i="0">
                <a:solidFill>
                  <a:srgbClr val="1A1C19"/>
                </a:solidFill>
                <a:latin typeface="Segoe UI"/>
              </a:rPr>
              <a:t>•  Карта, список, карточка, профиль — работают</a:t>
            </a:r>
          </a:p>
          <a:p>
            <a:pPr algn="l" marL="237744" indent="-237744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200" b="0" i="0">
                <a:solidFill>
                  <a:srgbClr val="1A1C19"/>
                </a:solidFill>
                <a:latin typeface="Segoe UI"/>
              </a:rPr>
              <a:t>•  Фильтры, поиск, избранное и свои АЗС</a:t>
            </a:r>
          </a:p>
          <a:p>
            <a:pPr algn="l" marL="237744" indent="-237744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200" b="0" i="0">
                <a:solidFill>
                  <a:srgbClr val="1A1C19"/>
                </a:solidFill>
                <a:latin typeface="Segoe UI"/>
              </a:rPr>
              <a:t>•  Сборка и unit-тесты проходят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1103" y="1389888"/>
            <a:ext cx="3666744" cy="4617720"/>
          </a:xfrm>
          <a:prstGeom prst="roundRect">
            <a:avLst>
              <a:gd name="adj" fmla="val 5000"/>
            </a:avLst>
          </a:prstGeom>
          <a:solidFill>
            <a:srgbClr val="FFF1DC"/>
          </a:solidFill>
          <a:ln w="12700">
            <a:solidFill>
              <a:srgbClr val="DD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17136" y="1591056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A4B00"/>
                </a:solidFill>
                <a:latin typeface="Segoe UI"/>
              </a:rPr>
              <a:t>Что не успели и почему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7136" y="2084831"/>
            <a:ext cx="3200400" cy="3703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37744" indent="-237744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200" b="0" i="0">
                <a:solidFill>
                  <a:srgbClr val="1A1C19"/>
                </a:solidFill>
                <a:latin typeface="Segoe UI"/>
              </a:rPr>
              <a:t>•  Онлайн-цены — нужен серверный API, вне MVP</a:t>
            </a:r>
          </a:p>
          <a:p>
            <a:pPr algn="l" marL="237744" indent="-237744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200" b="0" i="0">
                <a:solidFill>
                  <a:srgbClr val="1A1C19"/>
                </a:solidFill>
                <a:latin typeface="Segoe UI"/>
              </a:rPr>
              <a:t>•  Регистрация — не нужна для главного сценария</a:t>
            </a:r>
          </a:p>
          <a:p>
            <a:pPr algn="l" marL="237744" indent="-237744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200" b="0" i="0">
                <a:solidFill>
                  <a:srgbClr val="1A1C19"/>
                </a:solidFill>
                <a:latin typeface="Segoe UI"/>
              </a:rPr>
              <a:t>•  Навигация внутри приложения — отдан Intent</a:t>
            </a:r>
          </a:p>
          <a:p>
            <a:pPr algn="l" marL="237744" indent="-237744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200" b="0" i="0">
                <a:solidFill>
                  <a:srgbClr val="1A1C19"/>
                </a:solidFill>
                <a:latin typeface="Segoe UI"/>
              </a:rPr>
              <a:t>•  Офлайн-карта — в бэклоге</a:t>
            </a:r>
          </a:p>
          <a:p>
            <a:pPr algn="l" marL="237744" indent="-237744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200" b="0" i="0">
                <a:solidFill>
                  <a:srgbClr val="1A1C19"/>
                </a:solidFill>
                <a:latin typeface="Segoe UI"/>
              </a:rPr>
              <a:t>•  Реальные данные АЗС — нет источника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02167" y="1389888"/>
            <a:ext cx="3666744" cy="4617720"/>
          </a:xfrm>
          <a:prstGeom prst="roundRect">
            <a:avLst>
              <a:gd name="adj" fmla="val 5000"/>
            </a:avLst>
          </a:prstGeom>
          <a:solidFill>
            <a:srgbClr val="F6F7F4"/>
          </a:solidFill>
          <a:ln w="12700">
            <a:solidFill>
              <a:srgbClr val="DDE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199" y="1591056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15531"/>
                </a:solidFill>
                <a:latin typeface="Segoe UI"/>
              </a:rPr>
              <a:t>Выводы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199" y="2084831"/>
            <a:ext cx="3200400" cy="3703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37744" indent="-237744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200" b="0" i="0">
                <a:solidFill>
                  <a:srgbClr val="1A1C19"/>
                </a:solidFill>
                <a:latin typeface="Segoe UI"/>
              </a:rPr>
              <a:t>•  Гипотеза подтверждена частично: скорость решает</a:t>
            </a:r>
          </a:p>
          <a:p>
            <a:pPr algn="l" marL="237744" indent="-237744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200" b="0" i="0">
                <a:solidFill>
                  <a:srgbClr val="1A1C19"/>
                </a:solidFill>
                <a:latin typeface="Segoe UI"/>
              </a:rPr>
              <a:t>•  Проект стоит развивать</a:t>
            </a:r>
          </a:p>
          <a:p>
            <a:pPr algn="l" marL="237744" indent="-237744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200" b="0" i="0">
                <a:solidFill>
                  <a:srgbClr val="1A1C19"/>
                </a:solidFill>
                <a:latin typeface="Segoe UI"/>
              </a:rPr>
              <a:t>•  Сначала — реальные цены и офлайн-карта</a:t>
            </a:r>
          </a:p>
          <a:p>
            <a:pPr algn="l" marL="237744" indent="-237744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200" b="0" i="0">
                <a:solidFill>
                  <a:srgbClr val="1A1C19"/>
                </a:solidFill>
                <a:latin typeface="Segoe UI"/>
              </a:rPr>
              <a:t>•  Модель требует проверки на живой аудитории</a:t>
            </a:r>
          </a:p>
          <a:p>
            <a:pPr algn="l" marL="237744" indent="-237744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200" b="0" i="0">
                <a:solidFill>
                  <a:srgbClr val="1A1C19"/>
                </a:solidFill>
                <a:latin typeface="Segoe UI"/>
              </a:rPr>
              <a:t>•  Следующий шаг — пилот в одном городе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455664"/>
            <a:ext cx="11183112" cy="18288"/>
          </a:xfrm>
          <a:prstGeom prst="rect">
            <a:avLst/>
          </a:prstGeom>
          <a:solidFill>
            <a:srgbClr val="DDE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519672"/>
            <a:ext cx="10058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15C"/>
                </a:solidFill>
                <a:latin typeface="Segoe UI"/>
              </a:rPr>
              <a:t>«Заправка рядом» · учебный проект, тема №5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61488"/>
            <a:ext cx="12191695" cy="54864"/>
          </a:xfrm>
          <a:prstGeom prst="rect">
            <a:avLst/>
          </a:prstGeom>
          <a:solidFill>
            <a:srgbClr val="EF8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360152" cy="8229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Segoe UI"/>
              </a:rPr>
              <a:t>Спасибо за внимание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63240"/>
            <a:ext cx="103601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DCEFE4"/>
                </a:solidFill>
                <a:latin typeface="Segoe UI"/>
              </a:rPr>
              <a:t>«Заправка рядом» — поиск ближайшей АЗС по геолокации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3794760"/>
            <a:ext cx="5605272" cy="777240"/>
          </a:xfrm>
          <a:prstGeom prst="roundRect">
            <a:avLst>
              <a:gd name="adj" fmla="val 12000"/>
            </a:avLst>
          </a:prstGeom>
          <a:solidFill>
            <a:srgbClr val="166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1840" y="3794760"/>
            <a:ext cx="5605272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Segoe UI"/>
              </a:rPr>
              <a:t>Репозиторий:  github.com/Maksutrik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46320"/>
            <a:ext cx="10360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C9E6D6"/>
                </a:solidFill>
                <a:latin typeface="Segoe UI"/>
              </a:rPr>
              <a:t>Учебный проект по дисциплине «Разработка мобильных приложений» · тема №5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